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70" r:id="rId1"/>
    <p:sldMasterId id="2147483895" r:id="rId2"/>
  </p:sldMasterIdLst>
  <p:notesMasterIdLst>
    <p:notesMasterId r:id="rId28"/>
  </p:notesMasterIdLst>
  <p:handoutMasterIdLst>
    <p:handoutMasterId r:id="rId29"/>
  </p:handoutMasterIdLst>
  <p:sldIdLst>
    <p:sldId id="265" r:id="rId3"/>
    <p:sldId id="257" r:id="rId4"/>
    <p:sldId id="586" r:id="rId5"/>
    <p:sldId id="587" r:id="rId6"/>
    <p:sldId id="589" r:id="rId7"/>
    <p:sldId id="590" r:id="rId8"/>
    <p:sldId id="585" r:id="rId9"/>
    <p:sldId id="591" r:id="rId10"/>
    <p:sldId id="592" r:id="rId11"/>
    <p:sldId id="593" r:id="rId12"/>
    <p:sldId id="594" r:id="rId13"/>
    <p:sldId id="595" r:id="rId14"/>
    <p:sldId id="596" r:id="rId15"/>
    <p:sldId id="597" r:id="rId16"/>
    <p:sldId id="598" r:id="rId17"/>
    <p:sldId id="599" r:id="rId18"/>
    <p:sldId id="608" r:id="rId19"/>
    <p:sldId id="600" r:id="rId20"/>
    <p:sldId id="601" r:id="rId21"/>
    <p:sldId id="602" r:id="rId22"/>
    <p:sldId id="603" r:id="rId23"/>
    <p:sldId id="604" r:id="rId24"/>
    <p:sldId id="605" r:id="rId25"/>
    <p:sldId id="606" r:id="rId26"/>
    <p:sldId id="607" r:id="rId2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1">
          <p15:clr>
            <a:srgbClr val="A4A3A4"/>
          </p15:clr>
        </p15:guide>
        <p15:guide id="2" pos="287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2595315-6059-63B0-9BE8-AAFD11894995}" name="Елена Иванченко" initials="ЕИ" userId="7f7d7db965285a96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Самолетов" initials="С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134" autoAdjust="0"/>
    <p:restoredTop sz="94699" autoAdjust="0"/>
  </p:normalViewPr>
  <p:slideViewPr>
    <p:cSldViewPr snapToGrid="0" snapToObjects="1" showGuides="1">
      <p:cViewPr varScale="1">
        <p:scale>
          <a:sx n="110" d="100"/>
          <a:sy n="110" d="100"/>
        </p:scale>
        <p:origin x="864" y="77"/>
      </p:cViewPr>
      <p:guideLst>
        <p:guide orient="horz" pos="1611"/>
        <p:guide pos="287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commentAuthors" Target="commentAuthors.xml"/><Relationship Id="rId35" Type="http://schemas.microsoft.com/office/2018/10/relationships/authors" Target="authors.xml"/><Relationship Id="rId8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412975-4CFD-C441-A244-B7FD9A9579C2}" type="datetimeFigureOut">
              <a:rPr lang="en-US" smtClean="0"/>
              <a:pPr/>
              <a:t>12/14/2024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D660DC-725D-2A44-9F89-74FE668A9C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12542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FD1C8-470D-774F-8B40-381C3059BD4A}" type="datetimeFigureOut">
              <a:rPr lang="en-US" smtClean="0"/>
              <a:pPr/>
              <a:t>12/14/2024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49711C-DB87-6342-8123-FE7E39EB00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0732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783B35-4D64-24CD-46E0-32E9FC276C40}"/>
              </a:ext>
            </a:extLst>
          </p:cNvPr>
          <p:cNvSpPr txBox="1"/>
          <p:nvPr userDrawn="1"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FEFD47-67FA-CC9C-A247-DDA306E69DC7}"/>
              </a:ext>
            </a:extLst>
          </p:cNvPr>
          <p:cNvSpPr txBox="1"/>
          <p:nvPr userDrawn="1"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B74B261-5474-8217-1C1F-DF8DF956D9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5A92729-C745-7CCF-6847-2DF14BA7138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 baseline="0"/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ru-RU" sz="20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20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8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3599776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kfq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1211943"/>
            <a:ext cx="7467600" cy="344714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 baseline="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ru-RU" sz="2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24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20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3509715879"/>
      </p:ext>
    </p:extLst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>
            <a:extLst>
              <a:ext uri="{FF2B5EF4-FFF2-40B4-BE49-F238E27FC236}">
                <a16:creationId xmlns:a16="http://schemas.microsoft.com/office/drawing/2014/main" id="{DC7664A4-1431-5B79-D831-F6220EA436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9A5E5274-1C05-A7BB-B9D5-BE8CD4A5E9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" name="Текст 7">
            <a:extLst>
              <a:ext uri="{FF2B5EF4-FFF2-40B4-BE49-F238E27FC236}">
                <a16:creationId xmlns:a16="http://schemas.microsoft.com/office/drawing/2014/main" id="{5FC28AB9-3129-9DBE-782C-D2B113A5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6" name="Текст 13">
            <a:extLst>
              <a:ext uri="{FF2B5EF4-FFF2-40B4-BE49-F238E27FC236}">
                <a16:creationId xmlns:a16="http://schemas.microsoft.com/office/drawing/2014/main" id="{12C4E9B1-800A-20F6-E4F7-84C6B3BE946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D8C1609-7E48-B73D-CDA4-19FD56B59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329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256F42A0-92A9-ED41-A4B6-1B839857D4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784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</p:spTree>
    <p:extLst>
      <p:ext uri="{BB962C8B-B14F-4D97-AF65-F5344CB8AC3E}">
        <p14:creationId xmlns:p14="http://schemas.microsoft.com/office/powerpoint/2010/main" val="439475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0393FA-3ECC-3158-E15E-58890F60BD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13DB0C6-E4DE-9A4B-998D-34852F1B3E9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4034559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8ABD215D-CFC7-1CAC-2144-1C4A51F1FE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569F4-01AC-6221-63B9-0F06F87F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414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Текст 7">
            <a:extLst>
              <a:ext uri="{FF2B5EF4-FFF2-40B4-BE49-F238E27FC236}">
                <a16:creationId xmlns:a16="http://schemas.microsoft.com/office/drawing/2014/main" id="{36D9692A-5DC0-3DF1-F516-70164F11C5A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16" name="Текст 13">
            <a:extLst>
              <a:ext uri="{FF2B5EF4-FFF2-40B4-BE49-F238E27FC236}">
                <a16:creationId xmlns:a16="http://schemas.microsoft.com/office/drawing/2014/main" id="{C2C41F40-A63A-48C4-01DC-A4A13BB7B8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D5B27C-CA4C-7381-3F84-F0595A76CE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Текст 7">
            <a:extLst>
              <a:ext uri="{FF2B5EF4-FFF2-40B4-BE49-F238E27FC236}">
                <a16:creationId xmlns:a16="http://schemas.microsoft.com/office/drawing/2014/main" id="{2AA24315-FE73-04A8-D530-E746EC0C20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69578C56-72EB-AE17-C6D4-CE1E8FBA30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018934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AE2ED3E-3221-72A5-8340-4E08819C8F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19B43694-08A8-116E-FA12-468591D136C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952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E75CB8B0-7394-87DF-B065-6F242AB2D0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1993366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E98E654-ABDC-7E78-775E-43A2D6214C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5D71CC7-EEA6-E9D0-68AD-36562CCF607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2540818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8ABD215D-CFC7-1CAC-2144-1C4A51F1FE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569F4-01AC-6221-63B9-0F06F87F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360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>
            <a:extLst>
              <a:ext uri="{FF2B5EF4-FFF2-40B4-BE49-F238E27FC236}">
                <a16:creationId xmlns:a16="http://schemas.microsoft.com/office/drawing/2014/main" id="{3706F3BB-2486-D68F-6966-44BBD62CEC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49722966-1EC6-6348-3A3A-25A27C8E50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" name="Текст 7">
            <a:extLst>
              <a:ext uri="{FF2B5EF4-FFF2-40B4-BE49-F238E27FC236}">
                <a16:creationId xmlns:a16="http://schemas.microsoft.com/office/drawing/2014/main" id="{D2BFFE86-F97D-E925-927B-0F6BBD2D6EE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6" name="Текст 13">
            <a:extLst>
              <a:ext uri="{FF2B5EF4-FFF2-40B4-BE49-F238E27FC236}">
                <a16:creationId xmlns:a16="http://schemas.microsoft.com/office/drawing/2014/main" id="{ADAF316B-52C6-704E-CB38-0E76498CD5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D888714-60F8-FF59-CB87-38F52214F9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2600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8C44632-7642-B672-30DB-BEE8EBC23C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AF7BB137-1C7F-56D5-5D41-70ED6DEA4C5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8957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D9C7E817-A2F7-D228-2EB2-8CC27106359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29270353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1F5CFB9-FFF2-E218-2283-FA3AC247B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1CCADC5-135D-DC69-A40F-E7939EE42C8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31102738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25FAEC5-3811-8889-0016-6EA3B2AC41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Текст 7">
            <a:extLst>
              <a:ext uri="{FF2B5EF4-FFF2-40B4-BE49-F238E27FC236}">
                <a16:creationId xmlns:a16="http://schemas.microsoft.com/office/drawing/2014/main" id="{CAC739FE-CC7A-A005-60BE-713B90BFE7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5" name="Текст 13">
            <a:extLst>
              <a:ext uri="{FF2B5EF4-FFF2-40B4-BE49-F238E27FC236}">
                <a16:creationId xmlns:a16="http://schemas.microsoft.com/office/drawing/2014/main" id="{0280BF47-780B-2175-23F6-FDC24D601F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" name="Текст 7">
            <a:extLst>
              <a:ext uri="{FF2B5EF4-FFF2-40B4-BE49-F238E27FC236}">
                <a16:creationId xmlns:a16="http://schemas.microsoft.com/office/drawing/2014/main" id="{E58E80D7-3F9A-CA73-1A7E-C864B8F1B1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7" name="Текст 13">
            <a:extLst>
              <a:ext uri="{FF2B5EF4-FFF2-40B4-BE49-F238E27FC236}">
                <a16:creationId xmlns:a16="http://schemas.microsoft.com/office/drawing/2014/main" id="{BF0BE89B-425E-821E-10AB-56C164DAED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42062931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F282CACE-D64E-E390-8227-23E049D60AA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61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FD893D5-8CB5-3E29-008C-CC0E0591AE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6E126262-C015-9DD6-F87F-1B632AE744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17363212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02428" y="943208"/>
            <a:ext cx="5526315" cy="3875536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6" name="Рисунок 2">
            <a:extLst>
              <a:ext uri="{FF2B5EF4-FFF2-40B4-BE49-F238E27FC236}">
                <a16:creationId xmlns:a16="http://schemas.microsoft.com/office/drawing/2014/main" id="{E0DDF7E5-74E5-85B7-0EAB-6118F548A98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943208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7936B987-FE27-33B7-4612-FDB9F2B35C6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57200" y="2935720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855286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6">
            <a:extLst>
              <a:ext uri="{FF2B5EF4-FFF2-40B4-BE49-F238E27FC236}">
                <a16:creationId xmlns:a16="http://schemas.microsoft.com/office/drawing/2014/main" id="{604BBFFB-7572-35FA-4787-0F445C5632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1" y="1059322"/>
            <a:ext cx="3897086" cy="1734678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4BFD2DD0-1A50-CC19-1239-4EE4F12EA9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2" y="3105836"/>
            <a:ext cx="3897084" cy="1640335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73A9D63A-5180-ED0A-F619-007A1570C1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89714" y="1059322"/>
            <a:ext cx="3632201" cy="3686849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075CB2-AC7B-1521-E0C8-0618DBE0FE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3591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4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0945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596980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3287828"/>
            <a:ext cx="2588883" cy="1395548"/>
          </a:xfr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207251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84827D-CE53-9591-037D-C963F1C740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5AE50A46-F4A6-68CE-7C12-AA2301388718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5967600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42AB405F-D2C7-9CD0-F8A2-C5B08DACE9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9081" y="944463"/>
            <a:ext cx="2577001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20D20C24-934F-4A5C-CF04-B479AF2D0D5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221666" y="944462"/>
            <a:ext cx="2577001" cy="1883023"/>
          </a:xfrm>
          <a:prstGeom prst="roundRect">
            <a:avLst>
              <a:gd name="adj" fmla="val 12905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6" name="Рисунок 2">
            <a:extLst>
              <a:ext uri="{FF2B5EF4-FFF2-40B4-BE49-F238E27FC236}">
                <a16:creationId xmlns:a16="http://schemas.microsoft.com/office/drawing/2014/main" id="{2D750E3A-97C5-5CBE-A3C9-0F2565E569E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980690" y="944463"/>
            <a:ext cx="2577001" cy="1883023"/>
          </a:xfrm>
          <a:prstGeom prst="roundRect">
            <a:avLst>
              <a:gd name="adj" fmla="val 10512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73842539"/>
      </p:ext>
    </p:extLst>
  </p:cSld>
  <p:clrMapOvr>
    <a:masterClrMapping/>
  </p:clrMapOvr>
  <p:hf sldNum="0"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33143" y="949330"/>
            <a:ext cx="2895600" cy="3895724"/>
          </a:xfrm>
        </p:spPr>
        <p:txBody>
          <a:bodyPr>
            <a:normAutofit/>
          </a:bodyPr>
          <a:lstStyle>
            <a:lvl1pPr marL="0" indent="0">
              <a:buNone/>
              <a:defRPr sz="1400" b="0" i="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F1233E17-1183-B76E-8FDC-B4E51177D94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949329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D225B0AE-7C4E-EA08-3FB1-DC344CD7244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095171" y="949328"/>
            <a:ext cx="2532744" cy="1883023"/>
          </a:xfrm>
          <a:prstGeom prst="roundRect">
            <a:avLst>
              <a:gd name="adj" fmla="val 1187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8F0CB042-A157-2892-A9F3-8F41034FBC2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095171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B7890194-FBA6-DE42-AD42-307D6F999BE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57199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274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46AE54EB-260E-9A56-307F-307DC6AE32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963397"/>
            <a:ext cx="2532744" cy="1883023"/>
          </a:xfrm>
        </p:spPr>
        <p:txBody>
          <a:bodyPr>
            <a:normAutofit/>
          </a:bodyPr>
          <a:lstStyle>
            <a:lvl1pPr marL="0" indent="0">
              <a:buNone/>
              <a:defRPr sz="1800" b="1" i="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lvl="0"/>
            <a:r>
              <a:rPr lang="ru-RU" dirty="0"/>
              <a:t>Ключевая фраза слайда</a:t>
            </a:r>
          </a:p>
        </p:txBody>
      </p:sp>
      <p:sp>
        <p:nvSpPr>
          <p:cNvPr id="7" name="Рисунок 2">
            <a:extLst>
              <a:ext uri="{FF2B5EF4-FFF2-40B4-BE49-F238E27FC236}">
                <a16:creationId xmlns:a16="http://schemas.microsoft.com/office/drawing/2014/main" id="{20DDEE97-30A5-E948-6E23-28FB2BCF96F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095171" y="963397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AAC08422-7D47-2B7E-7D28-680BC07B364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733141" y="966928"/>
            <a:ext cx="2532744" cy="1883023"/>
          </a:xfrm>
          <a:prstGeom prst="roundRect">
            <a:avLst>
              <a:gd name="adj" fmla="val 11196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4D0F3CB7-1C07-A606-10E8-3541ED42DF3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733141" y="2954042"/>
            <a:ext cx="2532744" cy="1883023"/>
          </a:xfrm>
          <a:prstGeom prst="roundRect">
            <a:avLst>
              <a:gd name="adj" fmla="val 8802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AFE5227E-AF6F-5CD4-3762-3B690A4EFAC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95171" y="2960314"/>
            <a:ext cx="2532744" cy="1883023"/>
          </a:xfrm>
          <a:prstGeom prst="roundRect">
            <a:avLst>
              <a:gd name="adj" fmla="val 845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F1DACFFD-7F12-BA1F-C994-00039280C0A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57200" y="2960314"/>
            <a:ext cx="2532744" cy="1883023"/>
          </a:xfrm>
          <a:prstGeom prst="roundRect">
            <a:avLst>
              <a:gd name="adj" fmla="val 10169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18188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6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75819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7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6085706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F822C9-93DB-8981-8DE8-9669C842C9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ABC6181E-5380-5398-36BA-70EAD01E6B61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454050" y="952607"/>
            <a:ext cx="2589213" cy="1304294"/>
          </a:xfrm>
          <a:prstGeom prst="roundRect">
            <a:avLst>
              <a:gd name="adj" fmla="val 9261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6C8F21F1-75B3-D8F1-2DB5-6F70F86F1DB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3275818" y="952607"/>
            <a:ext cx="2589213" cy="1304294"/>
          </a:xfrm>
          <a:prstGeom prst="roundRect">
            <a:avLst>
              <a:gd name="adj" fmla="val 11730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276AF22E-2A7E-F9AB-5142-9D689D32BAC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089789" y="952607"/>
            <a:ext cx="2589213" cy="1304294"/>
          </a:xfrm>
          <a:prstGeom prst="roundRect">
            <a:avLst>
              <a:gd name="adj" fmla="val 10249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4" name="Text Placeholder 24">
            <a:extLst>
              <a:ext uri="{FF2B5EF4-FFF2-40B4-BE49-F238E27FC236}">
                <a16:creationId xmlns:a16="http://schemas.microsoft.com/office/drawing/2014/main" id="{4381B90F-578B-03FE-3E62-01B123DDCA0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60352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5" name="Text Placeholder 24">
            <a:extLst>
              <a:ext uri="{FF2B5EF4-FFF2-40B4-BE49-F238E27FC236}">
                <a16:creationId xmlns:a16="http://schemas.microsoft.com/office/drawing/2014/main" id="{78F39546-2C38-A484-9527-E82840466A9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278970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Text Placeholder 24">
            <a:extLst>
              <a:ext uri="{FF2B5EF4-FFF2-40B4-BE49-F238E27FC236}">
                <a16:creationId xmlns:a16="http://schemas.microsoft.com/office/drawing/2014/main" id="{62CF135A-DC57-BFA7-737D-7E89CABB270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088857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3" name="Рисунок 2">
            <a:extLst>
              <a:ext uri="{FF2B5EF4-FFF2-40B4-BE49-F238E27FC236}">
                <a16:creationId xmlns:a16="http://schemas.microsoft.com/office/drawing/2014/main" id="{F2DF9285-C300-85F5-A106-92A286165DE1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457201" y="2866358"/>
            <a:ext cx="2589213" cy="1304294"/>
          </a:xfrm>
          <a:prstGeom prst="roundRect">
            <a:avLst>
              <a:gd name="adj" fmla="val 12224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24" name="Рисунок 2">
            <a:extLst>
              <a:ext uri="{FF2B5EF4-FFF2-40B4-BE49-F238E27FC236}">
                <a16:creationId xmlns:a16="http://schemas.microsoft.com/office/drawing/2014/main" id="{3E7EB42F-DA19-C666-2E68-46C62D129469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3278969" y="2866358"/>
            <a:ext cx="2589213" cy="1304294"/>
          </a:xfrm>
          <a:prstGeom prst="roundRect">
            <a:avLst>
              <a:gd name="adj" fmla="val 11236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31" name="Рисунок 2">
            <a:extLst>
              <a:ext uri="{FF2B5EF4-FFF2-40B4-BE49-F238E27FC236}">
                <a16:creationId xmlns:a16="http://schemas.microsoft.com/office/drawing/2014/main" id="{8819B960-AE2A-9E43-B370-CD1D6A1ACE8D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092940" y="2866358"/>
            <a:ext cx="2589213" cy="1304294"/>
          </a:xfrm>
          <a:prstGeom prst="roundRect">
            <a:avLst>
              <a:gd name="adj" fmla="val 9755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</p:spTree>
    <p:extLst>
      <p:ext uri="{BB962C8B-B14F-4D97-AF65-F5344CB8AC3E}">
        <p14:creationId xmlns:p14="http://schemas.microsoft.com/office/powerpoint/2010/main" val="71863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03B4EA-AB69-818A-9ECD-365E5D6136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D56BE4B-9F13-270D-52F0-A496EFC4E2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3DDA4AB-52CE-E6C3-CE9C-3B5580BA7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38654-EEAF-4E4D-AF59-8AD94C05619F}" type="datetimeFigureOut">
              <a:rPr lang="ru-RU" smtClean="0"/>
              <a:t>14.12.2024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BF2AA52-9711-966D-1E49-5FCCED8E6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4CF26B9-1917-ECC3-FDCB-BAF8F1A7C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29C85-B4A9-4729-82FF-2DCC5438A0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462483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3C9CDD-3119-761A-0D39-EC1A106FF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9ADA157-A8BF-B731-397B-9B96B02258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0338C11-13AF-2C44-26A2-2E498A52A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38654-EEAF-4E4D-AF59-8AD94C05619F}" type="datetimeFigureOut">
              <a:rPr lang="ru-RU" smtClean="0"/>
              <a:t>14.12.2024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A11AD2B-8F2B-9AAA-67E8-C8FACF28E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F50CC8B-D854-A7DB-D422-6033A2591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29C85-B4A9-4729-82FF-2DCC5438A0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53678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FB9175-B958-A788-9802-86540C2B7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D8BFF87-55EC-5375-3F89-2C0CB4AFF7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D721850-5BB8-1112-3547-ECF2401FC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38654-EEAF-4E4D-AF59-8AD94C05619F}" type="datetimeFigureOut">
              <a:rPr lang="ru-RU" smtClean="0"/>
              <a:t>14.12.2024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D0A99C8-B019-026D-EDAE-C9157DBBE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D2BA340-299F-40D5-4389-AE4AEF7E5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29C85-B4A9-4729-82FF-2DCC5438A0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525305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4FA9D5-9BD9-0651-1198-9D9E4359B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E971D8C-E65E-F3FD-13C0-2D35EA3866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90783D1-8AFE-511C-B4D8-CBCC685BE0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6163BC4-BC9C-D85D-CC56-7CC47E91A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38654-EEAF-4E4D-AF59-8AD94C05619F}" type="datetimeFigureOut">
              <a:rPr lang="ru-RU" smtClean="0"/>
              <a:t>14.12.2024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F3E4212-2DA0-DFA0-7AFF-6543E135F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4895E2B-AE5A-0FB8-0EF3-6AC395959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29C85-B4A9-4729-82FF-2DCC5438A0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64464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CB95AB-5AF0-62F9-F03F-C0E985589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63E235A-BCF3-F814-1635-9E47A822B7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D7BDFF2-335F-5EBD-8D03-28DC519665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C09962C-F370-F62D-EC84-BD04E11591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4A322FD-BD7A-F05A-F36A-BB2D1BBDE5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AF2A43C-5489-3747-DE6E-48D61F740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38654-EEAF-4E4D-AF59-8AD94C05619F}" type="datetimeFigureOut">
              <a:rPr lang="ru-RU" smtClean="0"/>
              <a:t>14.12.2024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7792B05-F45F-6995-73FB-DBF11FD64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E3EBF39-5DC4-4A30-3510-01CF425F8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29C85-B4A9-4729-82FF-2DCC5438A0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115007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C0986B-AA30-0316-8382-444469E82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8CD412F-F381-0511-C33A-50DD5199F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38654-EEAF-4E4D-AF59-8AD94C05619F}" type="datetimeFigureOut">
              <a:rPr lang="ru-RU" smtClean="0"/>
              <a:t>14.12.2024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3D5152A-BD89-313D-AA2C-6B93F8E8A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C444326-F271-C68F-2F84-97D7A5ED3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29C85-B4A9-4729-82FF-2DCC5438A0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063519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FBC946A-6059-9AC3-E85A-64B907DD7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38654-EEAF-4E4D-AF59-8AD94C05619F}" type="datetimeFigureOut">
              <a:rPr lang="ru-RU" smtClean="0"/>
              <a:t>14.12.2024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1164403-F7FA-CDA2-C4E4-75B1E0E58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285668F-4007-6717-83F6-146672851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29C85-B4A9-4729-82FF-2DCC5438A0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126572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42FA94-17F5-8EF8-FE7D-8287A7326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98090F1-A7C7-2FC5-6A46-4E7F69E6F7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4194370-8556-E209-8F24-34785AFFD2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1B30195-69F9-3FCB-5025-70C0BC316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38654-EEAF-4E4D-AF59-8AD94C05619F}" type="datetimeFigureOut">
              <a:rPr lang="ru-RU" smtClean="0"/>
              <a:t>14.12.2024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32EACC3-7BD8-BFD2-9849-DDC3BC091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63C6371-9673-693E-C51E-177917623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29C85-B4A9-4729-82FF-2DCC5438A0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401870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CCB5F7-B6CF-C9C2-B792-CF3043331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841A3EE-05C9-6C4F-DE53-2C10CBC107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DD217B5-20AD-05FF-1F88-4BE9BAC188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0B3A9BA-E894-2ECB-A0A6-70CD40517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38654-EEAF-4E4D-AF59-8AD94C05619F}" type="datetimeFigureOut">
              <a:rPr lang="ru-RU" smtClean="0"/>
              <a:t>14.12.2024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F9325C5-DF66-7BCB-B1BD-D5E9E179D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88D45C9-398B-AAE9-B153-AB0A2DBEA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29C85-B4A9-4729-82FF-2DCC5438A0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24036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F34477-2901-FC43-81C8-6BD9635D2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E5573D9-4412-0347-2918-9A99AF79BD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E7F01FD-B020-D4CF-3AC0-6CA9DB92D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38654-EEAF-4E4D-AF59-8AD94C05619F}" type="datetimeFigureOut">
              <a:rPr lang="ru-RU" smtClean="0"/>
              <a:t>14.12.2024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F557DE2-6057-15F1-3DE1-D7389169B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8D3B0D3-CA56-02C0-27A1-16BD4F74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29C85-B4A9-4729-82FF-2DCC5438A0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105177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AC22394-9C49-F05E-711B-51CD1726E5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BE8E114-126A-D117-8D88-D196BA722E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5B41358-493A-0226-89CA-409F0A95A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38654-EEAF-4E4D-AF59-8AD94C05619F}" type="datetimeFigureOut">
              <a:rPr lang="ru-RU" smtClean="0"/>
              <a:t>14.12.2024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364598-E0A8-04A2-5AC8-0EF36A898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34A13C5-563D-8DA3-5163-939263041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29C85-B4A9-4729-82FF-2DCC5438A0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900152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02428" y="943208"/>
            <a:ext cx="5526315" cy="3875536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6" name="Рисунок 2">
            <a:extLst>
              <a:ext uri="{FF2B5EF4-FFF2-40B4-BE49-F238E27FC236}">
                <a16:creationId xmlns:a16="http://schemas.microsoft.com/office/drawing/2014/main" id="{E0DDF7E5-74E5-85B7-0EAB-6118F548A98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943208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7936B987-FE27-33B7-4612-FDB9F2B35C6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57200" y="2935720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36388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06434"/>
            <a:ext cx="8229600" cy="620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21912"/>
            <a:ext cx="8229600" cy="289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4D3E97-5D7A-1D29-BA55-742D76C1C8C4}"/>
              </a:ext>
            </a:extLst>
          </p:cNvPr>
          <p:cNvSpPr txBox="1"/>
          <p:nvPr userDrawn="1"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678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8" r:id="rId1"/>
    <p:sldLayoutId id="2147483872" r:id="rId2"/>
    <p:sldLayoutId id="2147483885" r:id="rId3"/>
    <p:sldLayoutId id="2147483877" r:id="rId4"/>
    <p:sldLayoutId id="2147483891" r:id="rId5"/>
    <p:sldLayoutId id="2147483883" r:id="rId6"/>
    <p:sldLayoutId id="2147483873" r:id="rId7"/>
    <p:sldLayoutId id="2147483888" r:id="rId8"/>
    <p:sldLayoutId id="2147483892" r:id="rId9"/>
    <p:sldLayoutId id="2147483874" r:id="rId10"/>
    <p:sldLayoutId id="2147483886" r:id="rId11"/>
    <p:sldLayoutId id="2147483889" r:id="rId12"/>
    <p:sldLayoutId id="2147483893" r:id="rId13"/>
    <p:sldLayoutId id="2147483887" r:id="rId14"/>
    <p:sldLayoutId id="2147483890" r:id="rId15"/>
    <p:sldLayoutId id="2147483880" r:id="rId16"/>
    <p:sldLayoutId id="2147483894" r:id="rId17"/>
    <p:sldLayoutId id="2147483875" r:id="rId18"/>
    <p:sldLayoutId id="2147483881" r:id="rId19"/>
    <p:sldLayoutId id="2147483882" r:id="rId20"/>
    <p:sldLayoutId id="2147483706" r:id="rId21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b="1" i="0" kern="1200" baseline="0">
          <a:solidFill>
            <a:schemeClr val="tx1"/>
          </a:solidFill>
          <a:latin typeface="ALS Gorizont Bold Expanded" panose="00000805000000000000" pitchFamily="50" charset="0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SzPct val="100000"/>
        <a:buFont typeface="Arial" panose="020B0604020202020204" pitchFamily="34" charset="0"/>
        <a:buNone/>
        <a:defRPr sz="20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4pPr>
      <a:lvl5pPr marL="1828800" indent="0" algn="l" defTabSz="457200" rtl="0" eaLnBrk="1" latinLnBrk="0" hangingPunct="1">
        <a:spcBef>
          <a:spcPct val="200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A02BD6-CD41-AB62-9FAC-215A1E842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F96A345-E9F8-130C-8B9C-1BFD59B2BA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4E35CEA-A336-1757-4D7F-79B14A8B59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938654-EEAF-4E4D-AF59-8AD94C05619F}" type="datetimeFigureOut">
              <a:rPr lang="ru-RU" smtClean="0"/>
              <a:t>14.12.2024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1D03F36-27A8-9551-A349-C654ECB5E7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64E5F59-F95B-9516-E7A3-4583383155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429C85-B4A9-4729-82FF-2DCC5438A0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2662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  <p:sldLayoutId id="2147483907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3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3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58985" y="2219325"/>
            <a:ext cx="8426027" cy="704850"/>
          </a:xfrm>
        </p:spPr>
        <p:txBody>
          <a:bodyPr>
            <a:no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  <a:latin typeface="ALS Gorizont Bold Expanded" pitchFamily="2" charset="0"/>
              </a:rPr>
              <a:t>Бизнес модели основных секторов экономики</a:t>
            </a:r>
            <a:endParaRPr lang="en-US" sz="4000" dirty="0">
              <a:solidFill>
                <a:schemeClr val="bg1"/>
              </a:solidFill>
              <a:latin typeface="ALS Gorizont Bold Expanded" pitchFamily="2" charset="0"/>
            </a:endParaRPr>
          </a:p>
        </p:txBody>
      </p:sp>
      <p:sp>
        <p:nvSpPr>
          <p:cNvPr id="2" name="Title 4">
            <a:extLst>
              <a:ext uri="{FF2B5EF4-FFF2-40B4-BE49-F238E27FC236}">
                <a16:creationId xmlns:a16="http://schemas.microsoft.com/office/drawing/2014/main" id="{AAB2CDAB-6295-F574-CAA6-43AF48E41499}"/>
              </a:ext>
            </a:extLst>
          </p:cNvPr>
          <p:cNvSpPr txBox="1">
            <a:spLocks/>
          </p:cNvSpPr>
          <p:nvPr/>
        </p:nvSpPr>
        <p:spPr>
          <a:xfrm>
            <a:off x="1296588" y="3733381"/>
            <a:ext cx="6550819" cy="7048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1" i="0" kern="1200" baseline="0">
                <a:solidFill>
                  <a:schemeClr val="tx1"/>
                </a:solidFill>
                <a:latin typeface="Golos Text DemiBold" panose="020B0703020202020204" pitchFamily="34" charset="-52"/>
                <a:ea typeface="+mj-ea"/>
                <a:cs typeface="+mj-cs"/>
              </a:defRPr>
            </a:lvl1pPr>
          </a:lstStyle>
          <a:p>
            <a:pPr algn="ctr"/>
            <a:r>
              <a:rPr lang="ru-RU" sz="2000" dirty="0">
                <a:solidFill>
                  <a:schemeClr val="bg1"/>
                </a:solidFill>
                <a:latin typeface="ALS Gorizont Bold Expanded" pitchFamily="2" charset="0"/>
              </a:rPr>
              <a:t>Лекция 6</a:t>
            </a:r>
          </a:p>
          <a:p>
            <a:pPr algn="ctr"/>
            <a:r>
              <a:rPr lang="ru-RU" sz="2000" dirty="0">
                <a:solidFill>
                  <a:schemeClr val="bg1"/>
                </a:solidFill>
                <a:latin typeface="ALS Gorizont Bold Expanded" pitchFamily="2" charset="0"/>
              </a:rPr>
              <a:t>Бизнес-модели в сферах ИКТ</a:t>
            </a:r>
            <a:r>
              <a:rPr lang="en-US" sz="2000" dirty="0">
                <a:solidFill>
                  <a:schemeClr val="bg1"/>
                </a:solidFill>
                <a:latin typeface="ALS Gorizont Bold Expanded" pitchFamily="2" charset="0"/>
              </a:rPr>
              <a:t>,</a:t>
            </a:r>
            <a:r>
              <a:rPr lang="ru-RU" sz="2000" dirty="0">
                <a:solidFill>
                  <a:schemeClr val="bg1"/>
                </a:solidFill>
                <a:latin typeface="ALS Gorizont Bold Expanded" pitchFamily="2" charset="0"/>
              </a:rPr>
              <a:t> ИИ</a:t>
            </a:r>
            <a:r>
              <a:rPr lang="en-US" sz="2000" dirty="0">
                <a:solidFill>
                  <a:schemeClr val="bg1"/>
                </a:solidFill>
                <a:latin typeface="ALS Gorizont Bold Expanded" pitchFamily="2" charset="0"/>
              </a:rPr>
              <a:t>, </a:t>
            </a:r>
            <a:r>
              <a:rPr lang="ru-RU" sz="2000" dirty="0">
                <a:solidFill>
                  <a:schemeClr val="bg1"/>
                </a:solidFill>
                <a:latin typeface="ALS Gorizont Bold Expanded" pitchFamily="2" charset="0"/>
              </a:rPr>
              <a:t>Робототехника</a:t>
            </a:r>
          </a:p>
          <a:p>
            <a:pPr algn="ctr"/>
            <a:endParaRPr lang="ru-RU" sz="1800" dirty="0">
              <a:solidFill>
                <a:schemeClr val="bg1"/>
              </a:solidFill>
              <a:latin typeface="ALS Gorizont Bold Expanded" pitchFamily="2" charset="0"/>
            </a:endParaRPr>
          </a:p>
          <a:p>
            <a:pPr algn="ctr"/>
            <a:r>
              <a:rPr lang="ru-RU" sz="1800" dirty="0">
                <a:solidFill>
                  <a:schemeClr val="bg1"/>
                </a:solidFill>
                <a:latin typeface="ALS Gorizont Bold Expanded" pitchFamily="2" charset="0"/>
              </a:rPr>
              <a:t>Волхонцев Андрей Алексеевич</a:t>
            </a:r>
            <a:endParaRPr lang="en-US" sz="1800" dirty="0">
              <a:solidFill>
                <a:schemeClr val="bg1"/>
              </a:solidFill>
              <a:latin typeface="ALS Gorizont Bold Expande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172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 descr="Всероссийская педагогическая конференция «Использование ИКТ в  образовательном процессе» - &quot;Академия педагогических проектов Российской  Федерации&quot;">
            <a:extLst>
              <a:ext uri="{FF2B5EF4-FFF2-40B4-BE49-F238E27FC236}">
                <a16:creationId xmlns:a16="http://schemas.microsoft.com/office/drawing/2014/main" id="{E353C91A-0E87-5741-1F34-72551096C3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337" b="1"/>
          <a:stretch/>
        </p:blipFill>
        <p:spPr bwMode="auto">
          <a:xfrm>
            <a:off x="20" y="10"/>
            <a:ext cx="7252212" cy="5143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843764" y="0"/>
            <a:ext cx="5300233" cy="51435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BE7C77-3174-A2A9-1313-BCC49C6F6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2" y="1187239"/>
            <a:ext cx="3636818" cy="2769021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2600" dirty="0" err="1">
                <a:latin typeface="Golos Text" panose="020B0503020202020204" pitchFamily="34" charset="0"/>
                <a:ea typeface="Golos Text" panose="020B0503020202020204" pitchFamily="34" charset="0"/>
              </a:rPr>
              <a:t>Информационно-коммуникационные</a:t>
            </a:r>
            <a:r>
              <a:rPr lang="en-US" sz="2600" dirty="0">
                <a:latin typeface="Golos Text" panose="020B0503020202020204" pitchFamily="34" charset="0"/>
                <a:ea typeface="Golos Text" panose="020B0503020202020204" pitchFamily="34" charset="0"/>
              </a:rPr>
              <a:t> </a:t>
            </a:r>
            <a:r>
              <a:rPr lang="en-US" sz="2600" dirty="0" err="1">
                <a:latin typeface="Golos Text" panose="020B0503020202020204" pitchFamily="34" charset="0"/>
                <a:ea typeface="Golos Text" panose="020B0503020202020204" pitchFamily="34" charset="0"/>
              </a:rPr>
              <a:t>те</a:t>
            </a:r>
            <a:r>
              <a:rPr lang="ru-RU" sz="2600" dirty="0">
                <a:latin typeface="Golos Text" panose="020B0503020202020204" pitchFamily="34" charset="0"/>
                <a:ea typeface="Golos Text" panose="020B0503020202020204" pitchFamily="34" charset="0"/>
              </a:rPr>
              <a:t>х</a:t>
            </a:r>
            <a:r>
              <a:rPr lang="en-US" sz="2600" dirty="0" err="1">
                <a:latin typeface="Golos Text" panose="020B0503020202020204" pitchFamily="34" charset="0"/>
                <a:ea typeface="Golos Text" panose="020B0503020202020204" pitchFamily="34" charset="0"/>
              </a:rPr>
              <a:t>нологии</a:t>
            </a:r>
            <a:endParaRPr lang="en-US" sz="2600" dirty="0"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8633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757D3-6746-9C0F-A33C-D2A55977D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93E634-12E6-3483-7EA7-24CE37E6D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400" dirty="0"/>
              <a:t>Объем рынка, Россия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AF87D93-0280-1394-18D1-0C11D458B8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6081" y="943207"/>
            <a:ext cx="7684192" cy="406905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ru-RU" sz="1800" b="1" dirty="0">
                <a:latin typeface="Golos Text" panose="020B0503020202020204" pitchFamily="34" charset="0"/>
                <a:ea typeface="Golos Text" panose="020B0503020202020204" pitchFamily="34" charset="0"/>
              </a:rPr>
              <a:t>38,95 млрд </a:t>
            </a:r>
            <a:r>
              <a:rPr lang="ru-RU" sz="1800" dirty="0">
                <a:latin typeface="Golos Text" panose="020B0503020202020204" pitchFamily="34" charset="0"/>
                <a:ea typeface="Golos Text" panose="020B0503020202020204" pitchFamily="34" charset="0"/>
              </a:rPr>
              <a:t>долларов США в 2024 году, ожидается рост до 58,9 к 2029, </a:t>
            </a:r>
            <a:r>
              <a:rPr lang="en-US" sz="1800" dirty="0">
                <a:latin typeface="Golos Text" panose="020B0503020202020204" pitchFamily="34" charset="0"/>
                <a:ea typeface="Golos Text" panose="020B0503020202020204" pitchFamily="34" charset="0"/>
              </a:rPr>
              <a:t>CAGR </a:t>
            </a:r>
            <a:r>
              <a:rPr lang="ru-RU" sz="1800" dirty="0">
                <a:latin typeface="Golos Text" panose="020B0503020202020204" pitchFamily="34" charset="0"/>
                <a:ea typeface="Golos Text" panose="020B0503020202020204" pitchFamily="34" charset="0"/>
              </a:rPr>
              <a:t>– 8,54%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C38193F-A6A2-20C8-7D08-3B4FCDDE7DC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1" t="7314" r="1375" b="8627"/>
          <a:stretch/>
        </p:blipFill>
        <p:spPr bwMode="auto">
          <a:xfrm>
            <a:off x="869577" y="1796634"/>
            <a:ext cx="7458636" cy="3142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5229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2B306-E6E4-EF4C-3B7C-EF672F248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CE7CFD-4BD7-6682-E135-3B3C94823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400" dirty="0"/>
              <a:t>Численность сотрудников, Россия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25E225C-EC23-DA6F-A689-A6EA8314847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6081" y="833719"/>
            <a:ext cx="7684192" cy="406905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ru-RU" sz="1600" dirty="0">
                <a:latin typeface="Golos Text" panose="020B0503020202020204" pitchFamily="34" charset="0"/>
                <a:ea typeface="Golos Text" panose="020B0503020202020204" pitchFamily="34" charset="0"/>
              </a:rPr>
              <a:t>В 2023 г. почти две трети работников сектора ИКТ (871.8 тыс. человек,</a:t>
            </a:r>
            <a:r>
              <a:rPr lang="en-US" sz="1600" dirty="0">
                <a:latin typeface="Golos Text" panose="020B0503020202020204" pitchFamily="34" charset="0"/>
                <a:ea typeface="Golos Text" panose="020B0503020202020204" pitchFamily="34" charset="0"/>
              </a:rPr>
              <a:t> </a:t>
            </a:r>
            <a:r>
              <a:rPr lang="ru-RU" sz="1600" dirty="0">
                <a:latin typeface="Golos Text" panose="020B0503020202020204" pitchFamily="34" charset="0"/>
                <a:ea typeface="Golos Text" panose="020B0503020202020204" pitchFamily="34" charset="0"/>
              </a:rPr>
              <a:t>или 61.6%) было занято в ИТ-отрасли и прочих ИТ-услугах</a:t>
            </a:r>
            <a:r>
              <a:rPr lang="en-US" sz="1600" dirty="0">
                <a:latin typeface="Golos Text" panose="020B0503020202020204" pitchFamily="34" charset="0"/>
                <a:ea typeface="Golos Text" panose="020B0503020202020204" pitchFamily="34" charset="0"/>
              </a:rPr>
              <a:t>.</a:t>
            </a:r>
            <a:endParaRPr lang="ru-RU" sz="1600" dirty="0"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A5C75CF7-A8E8-9419-C983-015E6264FD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2" t="6179" r="882" b="7394"/>
          <a:stretch/>
        </p:blipFill>
        <p:spPr bwMode="auto">
          <a:xfrm>
            <a:off x="386081" y="1580686"/>
            <a:ext cx="7961067" cy="3322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4676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E89076-027F-2DCE-54CA-C0D10523C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00075" y="1118507"/>
            <a:ext cx="2500312" cy="2624327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A7384B-1156-84A6-D350-D4DAB8E00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1475449"/>
            <a:ext cx="1971675" cy="1910443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/>
            <a:r>
              <a:rPr lang="en-US" sz="2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Численность сотрудников, Россия</a:t>
            </a:r>
          </a:p>
        </p:txBody>
      </p:sp>
      <p:pic>
        <p:nvPicPr>
          <p:cNvPr id="7" name="Рисунок 6" descr="Изображение выглядит как текст, снимок экрана,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C39E05CC-B4B3-5DCD-7792-328809F79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442" y="482599"/>
            <a:ext cx="4640615" cy="4176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672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28B5B-3736-6742-0678-DC7810F9C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00C10D-62D2-0D3F-3105-C5396E59F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400" dirty="0"/>
              <a:t>Показатели 2024, Россия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9A523E5-5F9B-0231-70A3-3FA81A2FE81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B4D3B11E-0BD6-529E-F472-666D858ECE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000"/>
          <a:stretch/>
        </p:blipFill>
        <p:spPr bwMode="auto">
          <a:xfrm>
            <a:off x="161364" y="1125816"/>
            <a:ext cx="9084975" cy="3875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4719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91E933-EB22-6E57-3476-57117A988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0C2C5D-4791-B838-D28E-07E6B7014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507" y="479640"/>
            <a:ext cx="3185730" cy="12893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/>
            <a:r>
              <a:rPr lang="en-US" sz="2800" kern="1200" dirty="0" err="1">
                <a:solidFill>
                  <a:schemeClr val="tx1"/>
                </a:solidFill>
                <a:latin typeface="ALS Gorizont Expanded" panose="00000505000000000000" pitchFamily="50" charset="0"/>
              </a:rPr>
              <a:t>Объем</a:t>
            </a:r>
            <a:r>
              <a:rPr lang="en-US" sz="2800" kern="1200" dirty="0">
                <a:solidFill>
                  <a:schemeClr val="tx1"/>
                </a:solidFill>
                <a:latin typeface="ALS Gorizont Expanded" panose="00000505000000000000" pitchFamily="50" charset="0"/>
              </a:rPr>
              <a:t> </a:t>
            </a:r>
            <a:r>
              <a:rPr lang="en-US" sz="2800" kern="1200" dirty="0" err="1">
                <a:solidFill>
                  <a:schemeClr val="tx1"/>
                </a:solidFill>
                <a:latin typeface="ALS Gorizont Expanded" panose="00000505000000000000" pitchFamily="50" charset="0"/>
              </a:rPr>
              <a:t>рынка</a:t>
            </a:r>
            <a:r>
              <a:rPr lang="en-US" sz="2800" kern="1200" dirty="0">
                <a:solidFill>
                  <a:schemeClr val="tx1"/>
                </a:solidFill>
                <a:latin typeface="ALS Gorizont Expanded" panose="00000505000000000000" pitchFamily="50" charset="0"/>
              </a:rPr>
              <a:t>, </a:t>
            </a:r>
            <a:r>
              <a:rPr lang="en-US" sz="2800" kern="1200" dirty="0" err="1">
                <a:solidFill>
                  <a:schemeClr val="tx1"/>
                </a:solidFill>
                <a:latin typeface="ALS Gorizont Expanded" panose="00000505000000000000" pitchFamily="50" charset="0"/>
              </a:rPr>
              <a:t>мир</a:t>
            </a:r>
            <a:endParaRPr lang="en-US" sz="2800" kern="1200" dirty="0">
              <a:solidFill>
                <a:schemeClr val="tx1"/>
              </a:solidFill>
              <a:latin typeface="ALS Gorizont Expanded" panose="00000505000000000000" pitchFamily="50" charset="0"/>
            </a:endParaRP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1930317"/>
            <a:ext cx="2441321" cy="13716"/>
          </a:xfrm>
          <a:custGeom>
            <a:avLst/>
            <a:gdLst>
              <a:gd name="connsiteX0" fmla="*/ 0 w 2441321"/>
              <a:gd name="connsiteY0" fmla="*/ 0 h 13716"/>
              <a:gd name="connsiteX1" fmla="*/ 585917 w 2441321"/>
              <a:gd name="connsiteY1" fmla="*/ 0 h 13716"/>
              <a:gd name="connsiteX2" fmla="*/ 1196247 w 2441321"/>
              <a:gd name="connsiteY2" fmla="*/ 0 h 13716"/>
              <a:gd name="connsiteX3" fmla="*/ 1806578 w 2441321"/>
              <a:gd name="connsiteY3" fmla="*/ 0 h 13716"/>
              <a:gd name="connsiteX4" fmla="*/ 2441321 w 2441321"/>
              <a:gd name="connsiteY4" fmla="*/ 0 h 13716"/>
              <a:gd name="connsiteX5" fmla="*/ 2441321 w 2441321"/>
              <a:gd name="connsiteY5" fmla="*/ 13716 h 13716"/>
              <a:gd name="connsiteX6" fmla="*/ 1830991 w 2441321"/>
              <a:gd name="connsiteY6" fmla="*/ 13716 h 13716"/>
              <a:gd name="connsiteX7" fmla="*/ 1269487 w 2441321"/>
              <a:gd name="connsiteY7" fmla="*/ 13716 h 13716"/>
              <a:gd name="connsiteX8" fmla="*/ 707983 w 2441321"/>
              <a:gd name="connsiteY8" fmla="*/ 13716 h 13716"/>
              <a:gd name="connsiteX9" fmla="*/ 0 w 2441321"/>
              <a:gd name="connsiteY9" fmla="*/ 13716 h 13716"/>
              <a:gd name="connsiteX10" fmla="*/ 0 w 2441321"/>
              <a:gd name="connsiteY10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41321" h="13716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0939" y="4363"/>
                  <a:pt x="2441580" y="8857"/>
                  <a:pt x="2441321" y="13716"/>
                </a:cubicBezTo>
                <a:cubicBezTo>
                  <a:pt x="2169723" y="25934"/>
                  <a:pt x="2045712" y="34568"/>
                  <a:pt x="1830991" y="13716"/>
                </a:cubicBezTo>
                <a:cubicBezTo>
                  <a:pt x="1616270" y="-7136"/>
                  <a:pt x="1505876" y="-623"/>
                  <a:pt x="1269487" y="13716"/>
                </a:cubicBezTo>
                <a:cubicBezTo>
                  <a:pt x="1033098" y="28055"/>
                  <a:pt x="908661" y="36619"/>
                  <a:pt x="707983" y="13716"/>
                </a:cubicBezTo>
                <a:cubicBezTo>
                  <a:pt x="507305" y="-9187"/>
                  <a:pt x="333592" y="16187"/>
                  <a:pt x="0" y="13716"/>
                </a:cubicBezTo>
                <a:cubicBezTo>
                  <a:pt x="-459" y="8317"/>
                  <a:pt x="190" y="2744"/>
                  <a:pt x="0" y="0"/>
                </a:cubicBezTo>
                <a:close/>
              </a:path>
              <a:path w="2441321" h="13716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507" y="3335"/>
                  <a:pt x="2441322" y="9457"/>
                  <a:pt x="2441321" y="13716"/>
                </a:cubicBezTo>
                <a:cubicBezTo>
                  <a:pt x="2166745" y="24201"/>
                  <a:pt x="2078726" y="10904"/>
                  <a:pt x="1879817" y="13716"/>
                </a:cubicBezTo>
                <a:cubicBezTo>
                  <a:pt x="1680908" y="16528"/>
                  <a:pt x="1548770" y="-8699"/>
                  <a:pt x="1318313" y="13716"/>
                </a:cubicBezTo>
                <a:cubicBezTo>
                  <a:pt x="1087856" y="36131"/>
                  <a:pt x="894613" y="-645"/>
                  <a:pt x="659157" y="13716"/>
                </a:cubicBezTo>
                <a:cubicBezTo>
                  <a:pt x="423701" y="28077"/>
                  <a:pt x="246611" y="29403"/>
                  <a:pt x="0" y="13716"/>
                </a:cubicBezTo>
                <a:cubicBezTo>
                  <a:pt x="-120" y="7867"/>
                  <a:pt x="674" y="39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45662C2-E8EC-AA2F-1DD7-AE2B5669A47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5506" y="2105406"/>
            <a:ext cx="3365216" cy="2558034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err="1">
                <a:latin typeface="Golos Text" panose="020B0503020202020204" pitchFamily="34" charset="0"/>
                <a:ea typeface="Golos Text" panose="020B0503020202020204" pitchFamily="34" charset="0"/>
              </a:rPr>
              <a:t>Около</a:t>
            </a:r>
            <a:r>
              <a:rPr lang="en-US" sz="1800" dirty="0">
                <a:latin typeface="Golos Text" panose="020B0503020202020204" pitchFamily="34" charset="0"/>
                <a:ea typeface="Golos Text" panose="020B0503020202020204" pitchFamily="34" charset="0"/>
              </a:rPr>
              <a:t> 6 </a:t>
            </a:r>
            <a:r>
              <a:rPr lang="en-US" sz="1800" dirty="0" err="1">
                <a:latin typeface="Golos Text" panose="020B0503020202020204" pitchFamily="34" charset="0"/>
                <a:ea typeface="Golos Text" panose="020B0503020202020204" pitchFamily="34" charset="0"/>
              </a:rPr>
              <a:t>трлн</a:t>
            </a:r>
            <a:r>
              <a:rPr lang="en-US" sz="1800" dirty="0">
                <a:latin typeface="Golos Text" panose="020B0503020202020204" pitchFamily="34" charset="0"/>
                <a:ea typeface="Golos Text" panose="020B0503020202020204" pitchFamily="34" charset="0"/>
              </a:rPr>
              <a:t> </a:t>
            </a:r>
            <a:r>
              <a:rPr lang="en-US" sz="1800" dirty="0" err="1">
                <a:latin typeface="Golos Text" panose="020B0503020202020204" pitchFamily="34" charset="0"/>
                <a:ea typeface="Golos Text" panose="020B0503020202020204" pitchFamily="34" charset="0"/>
              </a:rPr>
              <a:t>долларов</a:t>
            </a:r>
            <a:r>
              <a:rPr lang="en-US" sz="1800" dirty="0">
                <a:latin typeface="Golos Text" panose="020B0503020202020204" pitchFamily="34" charset="0"/>
                <a:ea typeface="Golos Text" panose="020B0503020202020204" pitchFamily="34" charset="0"/>
              </a:rPr>
              <a:t> США в 2023</a:t>
            </a:r>
          </a:p>
          <a:p>
            <a:pPr indent="-228600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err="1">
                <a:latin typeface="Golos Text" panose="020B0503020202020204" pitchFamily="34" charset="0"/>
                <a:ea typeface="Golos Text" panose="020B0503020202020204" pitchFamily="34" charset="0"/>
              </a:rPr>
              <a:t>Доля</a:t>
            </a:r>
            <a:r>
              <a:rPr lang="en-US" sz="1800" dirty="0">
                <a:latin typeface="Golos Text" panose="020B0503020202020204" pitchFamily="34" charset="0"/>
                <a:ea typeface="Golos Text" panose="020B0503020202020204" pitchFamily="34" charset="0"/>
              </a:rPr>
              <a:t> США – 38%, </a:t>
            </a:r>
            <a:r>
              <a:rPr lang="en-US" sz="1800" dirty="0" err="1">
                <a:latin typeface="Golos Text" panose="020B0503020202020204" pitchFamily="34" charset="0"/>
                <a:ea typeface="Golos Text" panose="020B0503020202020204" pitchFamily="34" charset="0"/>
              </a:rPr>
              <a:t>Китай</a:t>
            </a:r>
            <a:r>
              <a:rPr lang="en-US" sz="1800" dirty="0">
                <a:latin typeface="Golos Text" panose="020B0503020202020204" pitchFamily="34" charset="0"/>
                <a:ea typeface="Golos Text" panose="020B0503020202020204" pitchFamily="34" charset="0"/>
              </a:rPr>
              <a:t> и </a:t>
            </a:r>
            <a:r>
              <a:rPr lang="en-US" sz="1800" dirty="0" err="1">
                <a:latin typeface="Golos Text" panose="020B0503020202020204" pitchFamily="34" charset="0"/>
                <a:ea typeface="Golos Text" panose="020B0503020202020204" pitchFamily="34" charset="0"/>
              </a:rPr>
              <a:t>Европа</a:t>
            </a:r>
            <a:r>
              <a:rPr lang="en-US" sz="1800" dirty="0">
                <a:latin typeface="Golos Text" panose="020B0503020202020204" pitchFamily="34" charset="0"/>
                <a:ea typeface="Golos Text" panose="020B0503020202020204" pitchFamily="34" charset="0"/>
              </a:rPr>
              <a:t> – </a:t>
            </a:r>
            <a:r>
              <a:rPr lang="en-US" sz="1800" dirty="0" err="1">
                <a:latin typeface="Golos Text" panose="020B0503020202020204" pitchFamily="34" charset="0"/>
                <a:ea typeface="Golos Text" panose="020B0503020202020204" pitchFamily="34" charset="0"/>
              </a:rPr>
              <a:t>более</a:t>
            </a:r>
            <a:r>
              <a:rPr lang="en-US" sz="1800" dirty="0">
                <a:latin typeface="Golos Text" panose="020B0503020202020204" pitchFamily="34" charset="0"/>
                <a:ea typeface="Golos Text" panose="020B0503020202020204" pitchFamily="34" charset="0"/>
              </a:rPr>
              <a:t> 10% </a:t>
            </a:r>
            <a:r>
              <a:rPr lang="en-US" sz="1800" dirty="0" err="1">
                <a:latin typeface="Golos Text" panose="020B0503020202020204" pitchFamily="34" charset="0"/>
                <a:ea typeface="Golos Text" panose="020B0503020202020204" pitchFamily="34" charset="0"/>
              </a:rPr>
              <a:t>каждый</a:t>
            </a:r>
            <a:endParaRPr lang="en-US" sz="1800" dirty="0">
              <a:latin typeface="Golos Text" panose="020B0503020202020204" pitchFamily="34" charset="0"/>
              <a:ea typeface="Golos Text" panose="020B0503020202020204" pitchFamily="34" charset="0"/>
            </a:endParaRPr>
          </a:p>
          <a:p>
            <a:pPr indent="-228600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800" dirty="0"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BAEC268-69E9-A7F3-4031-2E2129B4F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722" y="507106"/>
            <a:ext cx="5177790" cy="4129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999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AA6C5-C220-FA45-D30A-3C223D8A3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4D017F-22B9-B2A3-4309-E817B5C9A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400" dirty="0"/>
              <a:t>Динамика расходов на ИКТ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583D47A-5824-659C-7314-AA34E865EA1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7764" y="1661160"/>
            <a:ext cx="3119299" cy="335110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ru-RU" sz="1600" dirty="0">
                <a:latin typeface="Golos Text" panose="020B0503020202020204" pitchFamily="34" charset="0"/>
                <a:ea typeface="Golos Text" panose="020B0503020202020204" pitchFamily="34" charset="0"/>
              </a:rPr>
              <a:t>Основная сфера финансирования от г-</a:t>
            </a:r>
            <a:r>
              <a:rPr lang="ru-RU" sz="1600" dirty="0" err="1">
                <a:latin typeface="Golos Text" panose="020B0503020202020204" pitchFamily="34" charset="0"/>
                <a:ea typeface="Golos Text" panose="020B0503020202020204" pitchFamily="34" charset="0"/>
              </a:rPr>
              <a:t>ва</a:t>
            </a:r>
            <a:r>
              <a:rPr lang="ru-RU" sz="1600" dirty="0">
                <a:latin typeface="Golos Text" panose="020B0503020202020204" pitchFamily="34" charset="0"/>
                <a:ea typeface="Golos Text" panose="020B0503020202020204" pitchFamily="34" charset="0"/>
              </a:rPr>
              <a:t>: Цифровая образовательная среда, Безопасный город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AB77DE5-1A52-1591-5FB8-D2C23DB35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7063" y="833719"/>
            <a:ext cx="5789173" cy="4151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0664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34DF7E-BF4F-D011-F6C1-C5BF254F5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22382C-F4C5-2664-9DA3-4EB44F914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2" y="479640"/>
            <a:ext cx="2818638" cy="12755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2800" kern="1200" dirty="0" err="1">
                <a:solidFill>
                  <a:schemeClr val="tx1"/>
                </a:solidFill>
                <a:latin typeface="Golos Text" panose="020B0503020202020204" pitchFamily="34" charset="0"/>
                <a:ea typeface="Golos Text" panose="020B0503020202020204" pitchFamily="34" charset="0"/>
              </a:rPr>
              <a:t>Перспективы</a:t>
            </a:r>
            <a:r>
              <a:rPr lang="en-US" sz="2800" kern="1200" dirty="0">
                <a:solidFill>
                  <a:schemeClr val="tx1"/>
                </a:solidFill>
                <a:latin typeface="Golos Text" panose="020B0503020202020204" pitchFamily="34" charset="0"/>
                <a:ea typeface="Golos Text" panose="020B0503020202020204" pitchFamily="34" charset="0"/>
              </a:rPr>
              <a:t> </a:t>
            </a:r>
          </a:p>
        </p:txBody>
      </p:sp>
      <p:sp>
        <p:nvSpPr>
          <p:cNvPr id="3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1930317"/>
            <a:ext cx="2441321" cy="13716"/>
          </a:xfrm>
          <a:custGeom>
            <a:avLst/>
            <a:gdLst>
              <a:gd name="connsiteX0" fmla="*/ 0 w 2441321"/>
              <a:gd name="connsiteY0" fmla="*/ 0 h 13716"/>
              <a:gd name="connsiteX1" fmla="*/ 585917 w 2441321"/>
              <a:gd name="connsiteY1" fmla="*/ 0 h 13716"/>
              <a:gd name="connsiteX2" fmla="*/ 1196247 w 2441321"/>
              <a:gd name="connsiteY2" fmla="*/ 0 h 13716"/>
              <a:gd name="connsiteX3" fmla="*/ 1806578 w 2441321"/>
              <a:gd name="connsiteY3" fmla="*/ 0 h 13716"/>
              <a:gd name="connsiteX4" fmla="*/ 2441321 w 2441321"/>
              <a:gd name="connsiteY4" fmla="*/ 0 h 13716"/>
              <a:gd name="connsiteX5" fmla="*/ 2441321 w 2441321"/>
              <a:gd name="connsiteY5" fmla="*/ 13716 h 13716"/>
              <a:gd name="connsiteX6" fmla="*/ 1830991 w 2441321"/>
              <a:gd name="connsiteY6" fmla="*/ 13716 h 13716"/>
              <a:gd name="connsiteX7" fmla="*/ 1269487 w 2441321"/>
              <a:gd name="connsiteY7" fmla="*/ 13716 h 13716"/>
              <a:gd name="connsiteX8" fmla="*/ 707983 w 2441321"/>
              <a:gd name="connsiteY8" fmla="*/ 13716 h 13716"/>
              <a:gd name="connsiteX9" fmla="*/ 0 w 2441321"/>
              <a:gd name="connsiteY9" fmla="*/ 13716 h 13716"/>
              <a:gd name="connsiteX10" fmla="*/ 0 w 2441321"/>
              <a:gd name="connsiteY10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41321" h="13716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0939" y="4363"/>
                  <a:pt x="2441580" y="8857"/>
                  <a:pt x="2441321" y="13716"/>
                </a:cubicBezTo>
                <a:cubicBezTo>
                  <a:pt x="2169723" y="25934"/>
                  <a:pt x="2045712" y="34568"/>
                  <a:pt x="1830991" y="13716"/>
                </a:cubicBezTo>
                <a:cubicBezTo>
                  <a:pt x="1616270" y="-7136"/>
                  <a:pt x="1505876" y="-623"/>
                  <a:pt x="1269487" y="13716"/>
                </a:cubicBezTo>
                <a:cubicBezTo>
                  <a:pt x="1033098" y="28055"/>
                  <a:pt x="908661" y="36619"/>
                  <a:pt x="707983" y="13716"/>
                </a:cubicBezTo>
                <a:cubicBezTo>
                  <a:pt x="507305" y="-9187"/>
                  <a:pt x="333592" y="16187"/>
                  <a:pt x="0" y="13716"/>
                </a:cubicBezTo>
                <a:cubicBezTo>
                  <a:pt x="-459" y="8317"/>
                  <a:pt x="190" y="2744"/>
                  <a:pt x="0" y="0"/>
                </a:cubicBezTo>
                <a:close/>
              </a:path>
              <a:path w="2441321" h="13716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507" y="3335"/>
                  <a:pt x="2441322" y="9457"/>
                  <a:pt x="2441321" y="13716"/>
                </a:cubicBezTo>
                <a:cubicBezTo>
                  <a:pt x="2166745" y="24201"/>
                  <a:pt x="2078726" y="10904"/>
                  <a:pt x="1879817" y="13716"/>
                </a:cubicBezTo>
                <a:cubicBezTo>
                  <a:pt x="1680908" y="16528"/>
                  <a:pt x="1548770" y="-8699"/>
                  <a:pt x="1318313" y="13716"/>
                </a:cubicBezTo>
                <a:cubicBezTo>
                  <a:pt x="1087856" y="36131"/>
                  <a:pt x="894613" y="-645"/>
                  <a:pt x="659157" y="13716"/>
                </a:cubicBezTo>
                <a:cubicBezTo>
                  <a:pt x="423701" y="28077"/>
                  <a:pt x="246611" y="29403"/>
                  <a:pt x="0" y="13716"/>
                </a:cubicBezTo>
                <a:cubicBezTo>
                  <a:pt x="-120" y="7867"/>
                  <a:pt x="674" y="39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52BFEDC-09CC-9BB9-F6DD-765A836971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3202" y="2105406"/>
            <a:ext cx="3017520" cy="2916174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285750" indent="-228600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Golos Text" panose="020B0503020202020204" pitchFamily="34" charset="0"/>
                <a:ea typeface="Golos Text" panose="020B0503020202020204" pitchFamily="34" charset="0"/>
              </a:rPr>
              <a:t>Быстрый</a:t>
            </a:r>
            <a:r>
              <a:rPr lang="en-US" dirty="0">
                <a:latin typeface="Golos Text" panose="020B0503020202020204" pitchFamily="34" charset="0"/>
                <a:ea typeface="Golos Text" panose="020B0503020202020204" pitchFamily="34" charset="0"/>
              </a:rPr>
              <a:t> </a:t>
            </a:r>
            <a:r>
              <a:rPr lang="en-US" dirty="0" err="1">
                <a:latin typeface="Golos Text" panose="020B0503020202020204" pitchFamily="34" charset="0"/>
                <a:ea typeface="Golos Text" panose="020B0503020202020204" pitchFamily="34" charset="0"/>
              </a:rPr>
              <a:t>рост</a:t>
            </a:r>
            <a:r>
              <a:rPr lang="en-US" dirty="0">
                <a:latin typeface="Golos Text" panose="020B0503020202020204" pitchFamily="34" charset="0"/>
                <a:ea typeface="Golos Text" panose="020B0503020202020204" pitchFamily="34" charset="0"/>
              </a:rPr>
              <a:t> и </a:t>
            </a:r>
            <a:r>
              <a:rPr lang="en-US" dirty="0" err="1">
                <a:latin typeface="Golos Text" panose="020B0503020202020204" pitchFamily="34" charset="0"/>
                <a:ea typeface="Golos Text" panose="020B0503020202020204" pitchFamily="34" charset="0"/>
              </a:rPr>
              <a:t>высокий</a:t>
            </a:r>
            <a:r>
              <a:rPr lang="en-US" dirty="0">
                <a:latin typeface="Golos Text" panose="020B0503020202020204" pitchFamily="34" charset="0"/>
                <a:ea typeface="Golos Text" panose="020B0503020202020204" pitchFamily="34" charset="0"/>
              </a:rPr>
              <a:t> </a:t>
            </a:r>
            <a:r>
              <a:rPr lang="en-US" dirty="0" err="1">
                <a:latin typeface="Golos Text" panose="020B0503020202020204" pitchFamily="34" charset="0"/>
                <a:ea typeface="Golos Text" panose="020B0503020202020204" pitchFamily="34" charset="0"/>
              </a:rPr>
              <a:t>уровень</a:t>
            </a:r>
            <a:r>
              <a:rPr lang="en-US" dirty="0">
                <a:latin typeface="Golos Text" panose="020B0503020202020204" pitchFamily="34" charset="0"/>
                <a:ea typeface="Golos Text" panose="020B0503020202020204" pitchFamily="34" charset="0"/>
              </a:rPr>
              <a:t> </a:t>
            </a:r>
            <a:r>
              <a:rPr lang="en-US" dirty="0" err="1">
                <a:latin typeface="Golos Text" panose="020B0503020202020204" pitchFamily="34" charset="0"/>
                <a:ea typeface="Golos Text" panose="020B0503020202020204" pitchFamily="34" charset="0"/>
              </a:rPr>
              <a:t>цифровизации</a:t>
            </a:r>
            <a:endParaRPr lang="en-US" dirty="0">
              <a:latin typeface="Golos Text" panose="020B0503020202020204" pitchFamily="34" charset="0"/>
              <a:ea typeface="Golos Text" panose="020B0503020202020204" pitchFamily="34" charset="0"/>
            </a:endParaRPr>
          </a:p>
          <a:p>
            <a:pPr marL="285750" indent="-228600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Golos Text" panose="020B0503020202020204" pitchFamily="34" charset="0"/>
                <a:ea typeface="Golos Text" panose="020B0503020202020204" pitchFamily="34" charset="0"/>
              </a:rPr>
              <a:t>Рост</a:t>
            </a:r>
            <a:r>
              <a:rPr lang="en-US" dirty="0">
                <a:latin typeface="Golos Text" panose="020B0503020202020204" pitchFamily="34" charset="0"/>
                <a:ea typeface="Golos Text" panose="020B0503020202020204" pitchFamily="34" charset="0"/>
              </a:rPr>
              <a:t> </a:t>
            </a:r>
            <a:r>
              <a:rPr lang="en-US" dirty="0" err="1">
                <a:latin typeface="Golos Text" panose="020B0503020202020204" pitchFamily="34" charset="0"/>
                <a:ea typeface="Golos Text" panose="020B0503020202020204" pitchFamily="34" charset="0"/>
              </a:rPr>
              <a:t>финансирования</a:t>
            </a:r>
            <a:r>
              <a:rPr lang="en-US" dirty="0">
                <a:latin typeface="Golos Text" panose="020B0503020202020204" pitchFamily="34" charset="0"/>
                <a:ea typeface="Golos Text" panose="020B0503020202020204" pitchFamily="34" charset="0"/>
              </a:rPr>
              <a:t> </a:t>
            </a:r>
            <a:r>
              <a:rPr lang="en-US" dirty="0" err="1">
                <a:latin typeface="Golos Text" panose="020B0503020202020204" pitchFamily="34" charset="0"/>
                <a:ea typeface="Golos Text" panose="020B0503020202020204" pitchFamily="34" charset="0"/>
              </a:rPr>
              <a:t>со</a:t>
            </a:r>
            <a:r>
              <a:rPr lang="en-US" dirty="0">
                <a:latin typeface="Golos Text" panose="020B0503020202020204" pitchFamily="34" charset="0"/>
                <a:ea typeface="Golos Text" panose="020B0503020202020204" pitchFamily="34" charset="0"/>
              </a:rPr>
              <a:t> </a:t>
            </a:r>
            <a:r>
              <a:rPr lang="en-US" dirty="0" err="1">
                <a:latin typeface="Golos Text" panose="020B0503020202020204" pitchFamily="34" charset="0"/>
                <a:ea typeface="Golos Text" panose="020B0503020202020204" pitchFamily="34" charset="0"/>
              </a:rPr>
              <a:t>стороны</a:t>
            </a:r>
            <a:r>
              <a:rPr lang="en-US" dirty="0">
                <a:latin typeface="Golos Text" panose="020B0503020202020204" pitchFamily="34" charset="0"/>
                <a:ea typeface="Golos Text" panose="020B0503020202020204" pitchFamily="34" charset="0"/>
              </a:rPr>
              <a:t> </a:t>
            </a:r>
            <a:r>
              <a:rPr lang="en-US" dirty="0" err="1">
                <a:latin typeface="Golos Text" panose="020B0503020202020204" pitchFamily="34" charset="0"/>
                <a:ea typeface="Golos Text" panose="020B0503020202020204" pitchFamily="34" charset="0"/>
              </a:rPr>
              <a:t>государства</a:t>
            </a:r>
            <a:endParaRPr lang="en-US" dirty="0">
              <a:latin typeface="Golos Text" panose="020B0503020202020204" pitchFamily="34" charset="0"/>
              <a:ea typeface="Golos Text" panose="020B0503020202020204" pitchFamily="34" charset="0"/>
            </a:endParaRPr>
          </a:p>
          <a:p>
            <a:pPr marL="285750" indent="-228600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Golos Text" panose="020B0503020202020204" pitchFamily="34" charset="0"/>
                <a:ea typeface="Golos Text" panose="020B0503020202020204" pitchFamily="34" charset="0"/>
              </a:rPr>
              <a:t>Средняя</a:t>
            </a:r>
            <a:r>
              <a:rPr lang="en-US" dirty="0">
                <a:latin typeface="Golos Text" panose="020B0503020202020204" pitchFamily="34" charset="0"/>
                <a:ea typeface="Golos Text" panose="020B0503020202020204" pitchFamily="34" charset="0"/>
              </a:rPr>
              <a:t> ЗП</a:t>
            </a:r>
            <a:endParaRPr lang="ru-RU" dirty="0">
              <a:latin typeface="Golos Text" panose="020B0503020202020204" pitchFamily="34" charset="0"/>
              <a:ea typeface="Golos Text" panose="020B0503020202020204" pitchFamily="34" charset="0"/>
            </a:endParaRPr>
          </a:p>
          <a:p>
            <a:pPr marL="285750" indent="-228600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Golos Text" panose="020B0503020202020204" pitchFamily="34" charset="0"/>
                <a:ea typeface="Golos Text" panose="020B0503020202020204" pitchFamily="34" charset="0"/>
              </a:rPr>
              <a:t>Развитие</a:t>
            </a:r>
            <a:r>
              <a:rPr lang="en-US" dirty="0">
                <a:latin typeface="Golos Text" panose="020B0503020202020204" pitchFamily="34" charset="0"/>
                <a:ea typeface="Golos Text" panose="020B0503020202020204" pitchFamily="34" charset="0"/>
              </a:rPr>
              <a:t> IoT, ИИ, 5G</a:t>
            </a:r>
          </a:p>
          <a:p>
            <a:pPr marL="285750" indent="-228600" defTabSz="9144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Golos Text" panose="020B0503020202020204" pitchFamily="34" charset="0"/>
                <a:ea typeface="Golos Text" panose="020B0503020202020204" pitchFamily="34" charset="0"/>
              </a:rPr>
              <a:t>Необходимость</a:t>
            </a:r>
            <a:r>
              <a:rPr lang="en-US" dirty="0">
                <a:latin typeface="Golos Text" panose="020B0503020202020204" pitchFamily="34" charset="0"/>
                <a:ea typeface="Golos Text" panose="020B0503020202020204" pitchFamily="34" charset="0"/>
              </a:rPr>
              <a:t> </a:t>
            </a:r>
            <a:r>
              <a:rPr lang="en-US" dirty="0" err="1">
                <a:latin typeface="Golos Text" panose="020B0503020202020204" pitchFamily="34" charset="0"/>
                <a:ea typeface="Golos Text" panose="020B0503020202020204" pitchFamily="34" charset="0"/>
              </a:rPr>
              <a:t>разработки</a:t>
            </a:r>
            <a:r>
              <a:rPr lang="en-US" dirty="0">
                <a:latin typeface="Golos Text" panose="020B0503020202020204" pitchFamily="34" charset="0"/>
                <a:ea typeface="Golos Text" panose="020B0503020202020204" pitchFamily="34" charset="0"/>
              </a:rPr>
              <a:t> </a:t>
            </a:r>
            <a:r>
              <a:rPr lang="en-US" dirty="0" err="1">
                <a:latin typeface="Golos Text" panose="020B0503020202020204" pitchFamily="34" charset="0"/>
                <a:ea typeface="Golos Text" panose="020B0503020202020204" pitchFamily="34" charset="0"/>
              </a:rPr>
              <a:t>собственного</a:t>
            </a:r>
            <a:r>
              <a:rPr lang="en-US" dirty="0">
                <a:latin typeface="Golos Text" panose="020B0503020202020204" pitchFamily="34" charset="0"/>
                <a:ea typeface="Golos Text" panose="020B0503020202020204" pitchFamily="34" charset="0"/>
              </a:rPr>
              <a:t> ПО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DDD2966-35B9-EF72-3052-89FEA5B1E7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722" y="643023"/>
            <a:ext cx="5177790" cy="3857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704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D8388-8D4A-D623-C21E-62101053E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C41289-E97A-927D-752E-E30D1DB03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400" dirty="0"/>
              <a:t>Барьеры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E3E1A3B-A346-5F3A-2096-B9057A58B6C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1097280"/>
            <a:ext cx="8221980" cy="3351106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latin typeface="Golos Text" panose="020B0503020202020204" pitchFamily="34" charset="0"/>
                <a:ea typeface="Golos Text" panose="020B0503020202020204" pitchFamily="34" charset="0"/>
              </a:rPr>
              <a:t>Нехватка </a:t>
            </a:r>
            <a:r>
              <a:rPr lang="en-US" sz="1600" dirty="0">
                <a:latin typeface="Golos Text" panose="020B0503020202020204" pitchFamily="34" charset="0"/>
                <a:ea typeface="Golos Text" panose="020B0503020202020204" pitchFamily="34" charset="0"/>
              </a:rPr>
              <a:t>Senior</a:t>
            </a:r>
            <a:endParaRPr lang="ru-RU" sz="1600" dirty="0">
              <a:latin typeface="Golos Text" panose="020B0503020202020204" pitchFamily="34" charset="0"/>
              <a:ea typeface="Golos Text" panose="020B0503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latin typeface="Golos Text" panose="020B0503020202020204" pitchFamily="34" charset="0"/>
                <a:ea typeface="Golos Text" panose="020B0503020202020204" pitchFamily="34" charset="0"/>
              </a:rPr>
              <a:t>Дифференциация зарплат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latin typeface="Golos Text" panose="020B0503020202020204" pitchFamily="34" charset="0"/>
                <a:ea typeface="Golos Text" panose="020B0503020202020204" pitchFamily="34" charset="0"/>
              </a:rPr>
              <a:t>Низкое качество ПО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latin typeface="Golos Text" panose="020B0503020202020204" pitchFamily="34" charset="0"/>
                <a:ea typeface="Golos Text" panose="020B0503020202020204" pitchFamily="34" charset="0"/>
              </a:rPr>
              <a:t>Уход международных сервисов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latin typeface="Golos Text" panose="020B0503020202020204" pitchFamily="34" charset="0"/>
                <a:ea typeface="Golos Text" panose="020B0503020202020204" pitchFamily="34" charset="0"/>
              </a:rPr>
              <a:t>Сложность партнёрства в НИР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latin typeface="Golos Text" panose="020B0503020202020204" pitchFamily="34" charset="0"/>
                <a:ea typeface="Golos Text" panose="020B0503020202020204" pitchFamily="34" charset="0"/>
              </a:rPr>
              <a:t>Дилемма выбора страны для бизнеса</a:t>
            </a:r>
          </a:p>
        </p:txBody>
      </p:sp>
    </p:spTree>
    <p:extLst>
      <p:ext uri="{BB962C8B-B14F-4D97-AF65-F5344CB8AC3E}">
        <p14:creationId xmlns:p14="http://schemas.microsoft.com/office/powerpoint/2010/main" val="875921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55BD3-33EE-55D6-FBA9-12D91A785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899722-69E3-9867-2678-9FB385E92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400" dirty="0"/>
              <a:t>Бизнес-модели ИТ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24570ED-48FE-C6FB-D717-B5F414C8883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1097280"/>
            <a:ext cx="8221980" cy="3351106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latin typeface="Golos Text" panose="020B0503020202020204" pitchFamily="34" charset="0"/>
                <a:ea typeface="Golos Text" panose="020B0503020202020204" pitchFamily="34" charset="0"/>
              </a:rPr>
              <a:t>Продуктовая модель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latin typeface="Golos Text" panose="020B0503020202020204" pitchFamily="34" charset="0"/>
                <a:ea typeface="Golos Text" panose="020B0503020202020204" pitchFamily="34" charset="0"/>
              </a:rPr>
              <a:t>Предоставление услуг + </a:t>
            </a:r>
            <a:r>
              <a:rPr lang="en-US" sz="1600" dirty="0">
                <a:latin typeface="Golos Text" panose="020B0503020202020204" pitchFamily="34" charset="0"/>
                <a:ea typeface="Golos Text" panose="020B0503020202020204" pitchFamily="34" charset="0"/>
              </a:rPr>
              <a:t>Outsourcing</a:t>
            </a:r>
            <a:endParaRPr lang="ru-RU" sz="1600" dirty="0">
              <a:latin typeface="Golos Text" panose="020B0503020202020204" pitchFamily="34" charset="0"/>
              <a:ea typeface="Golos Text" panose="020B0503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latin typeface="Golos Text" panose="020B0503020202020204" pitchFamily="34" charset="0"/>
                <a:ea typeface="Golos Text" panose="020B0503020202020204" pitchFamily="34" charset="0"/>
              </a:rPr>
              <a:t>Платформенная модель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latin typeface="Golos Text" panose="020B0503020202020204" pitchFamily="34" charset="0"/>
                <a:ea typeface="Golos Text" panose="020B0503020202020204" pitchFamily="34" charset="0"/>
              </a:rPr>
              <a:t>Подписка..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Golos Text" panose="020B0503020202020204" pitchFamily="34" charset="0"/>
                <a:ea typeface="Golos Text" panose="020B0503020202020204" pitchFamily="34" charset="0"/>
              </a:rPr>
              <a:t>Freemium</a:t>
            </a:r>
          </a:p>
        </p:txBody>
      </p:sp>
    </p:spTree>
    <p:extLst>
      <p:ext uri="{BB962C8B-B14F-4D97-AF65-F5344CB8AC3E}">
        <p14:creationId xmlns:p14="http://schemas.microsoft.com/office/powerpoint/2010/main" val="4703970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C1FB8-6AA2-BD3B-9D38-933A29B09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F1DE8A-A384-BF13-5129-1A70C8DB9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400" dirty="0"/>
              <a:t>Инновационные бизнес-модели ИТ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856C53E-2E2B-7500-97EA-F8DE6EFAEA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1097280"/>
            <a:ext cx="8221980" cy="335110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ru-RU" sz="1600" dirty="0">
                <a:latin typeface="Golos Text" panose="020B0503020202020204" pitchFamily="34" charset="0"/>
                <a:ea typeface="Golos Text" panose="020B0503020202020204" pitchFamily="34" charset="0"/>
              </a:rPr>
              <a:t>Open Source. Совместная работа для поиска бесплатного решения</a:t>
            </a:r>
          </a:p>
          <a:p>
            <a:pPr>
              <a:lnSpc>
                <a:spcPct val="150000"/>
              </a:lnSpc>
            </a:pPr>
            <a:r>
              <a:rPr lang="ru-RU" sz="1600" dirty="0">
                <a:latin typeface="Golos Text" panose="020B0503020202020204" pitchFamily="34" charset="0"/>
                <a:ea typeface="Golos Text" panose="020B0503020202020204" pitchFamily="34" charset="0"/>
              </a:rPr>
              <a:t>Бесплатный доступ к исходному продукту, возможность улучшать его. Прибыль: бесплатная рабочая сила, пожертвования, услуги для более удобной работы.</a:t>
            </a:r>
          </a:p>
          <a:p>
            <a:pPr>
              <a:lnSpc>
                <a:spcPct val="150000"/>
              </a:lnSpc>
            </a:pPr>
            <a:r>
              <a:rPr lang="ru-RU" sz="1600" dirty="0">
                <a:latin typeface="Golos Text" panose="020B0503020202020204" pitchFamily="34" charset="0"/>
                <a:ea typeface="Golos Text" panose="020B0503020202020204" pitchFamily="34" charset="0"/>
              </a:rPr>
              <a:t>Примеры: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Golos Text" panose="020B0503020202020204" pitchFamily="34" charset="0"/>
                <a:ea typeface="Golos Text" panose="020B0503020202020204" pitchFamily="34" charset="0"/>
              </a:rPr>
              <a:t>Wikipedia</a:t>
            </a:r>
            <a:r>
              <a:rPr lang="ru-RU" sz="1600" dirty="0">
                <a:latin typeface="Golos Text" panose="020B0503020202020204" pitchFamily="34" charset="0"/>
                <a:ea typeface="Golos Text" panose="020B0503020202020204" pitchFamily="34" charset="0"/>
              </a:rPr>
              <a:t>, </a:t>
            </a:r>
            <a:r>
              <a:rPr lang="en-US" sz="1600" dirty="0">
                <a:latin typeface="Golos Text" panose="020B0503020202020204" pitchFamily="34" charset="0"/>
                <a:ea typeface="Golos Text" panose="020B0503020202020204" pitchFamily="34" charset="0"/>
              </a:rPr>
              <a:t>Red Hat </a:t>
            </a:r>
            <a:r>
              <a:rPr lang="ru-RU" sz="1600" dirty="0">
                <a:latin typeface="Golos Text" panose="020B0503020202020204" pitchFamily="34" charset="0"/>
                <a:ea typeface="Golos Text" panose="020B0503020202020204" pitchFamily="34" charset="0"/>
              </a:rPr>
              <a:t>– дополнительные приложения для </a:t>
            </a:r>
            <a:r>
              <a:rPr lang="en-US" sz="1600" dirty="0">
                <a:latin typeface="Golos Text" panose="020B0503020202020204" pitchFamily="34" charset="0"/>
                <a:ea typeface="Golos Text" panose="020B0503020202020204" pitchFamily="34" charset="0"/>
              </a:rPr>
              <a:t>Linux, Netscape </a:t>
            </a:r>
            <a:r>
              <a:rPr lang="ru-RU" sz="1600" dirty="0">
                <a:latin typeface="Golos Text" panose="020B0503020202020204" pitchFamily="34" charset="0"/>
                <a:ea typeface="Golos Text" panose="020B0503020202020204" pitchFamily="34" charset="0"/>
              </a:rPr>
              <a:t>(</a:t>
            </a:r>
            <a:r>
              <a:rPr lang="en-US" sz="1600" dirty="0">
                <a:latin typeface="Golos Text" panose="020B0503020202020204" pitchFamily="34" charset="0"/>
                <a:ea typeface="Golos Text" panose="020B0503020202020204" pitchFamily="34" charset="0"/>
              </a:rPr>
              <a:t>Mozilla)</a:t>
            </a:r>
          </a:p>
        </p:txBody>
      </p:sp>
    </p:spTree>
    <p:extLst>
      <p:ext uri="{BB962C8B-B14F-4D97-AF65-F5344CB8AC3E}">
        <p14:creationId xmlns:p14="http://schemas.microsoft.com/office/powerpoint/2010/main" val="3612021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ADE33-073B-6218-FEA9-D47DE319C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C9FB74-A1F2-B9A2-C4BA-3770A5122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400" dirty="0"/>
              <a:t>Инновационные бизнес-модели ИТ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90F215B-3C78-4547-19A5-E400217AC94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1097280"/>
            <a:ext cx="8221980" cy="335110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ru-RU" sz="1600" dirty="0" err="1">
                <a:latin typeface="Golos Text" panose="020B0503020202020204" pitchFamily="34" charset="0"/>
                <a:ea typeface="Golos Text" panose="020B0503020202020204" pitchFamily="34" charset="0"/>
              </a:rPr>
              <a:t>Freemium</a:t>
            </a:r>
            <a:r>
              <a:rPr lang="ru-RU" sz="1600" dirty="0">
                <a:latin typeface="Golos Text" panose="020B0503020202020204" pitchFamily="34" charset="0"/>
                <a:ea typeface="Golos Text" panose="020B0503020202020204" pitchFamily="34" charset="0"/>
              </a:rPr>
              <a:t>. Выбор между бесплатной</a:t>
            </a:r>
            <a:r>
              <a:rPr lang="en-US" sz="1600" dirty="0">
                <a:latin typeface="Golos Text" panose="020B0503020202020204" pitchFamily="34" charset="0"/>
                <a:ea typeface="Golos Text" panose="020B0503020202020204" pitchFamily="34" charset="0"/>
              </a:rPr>
              <a:t> </a:t>
            </a:r>
            <a:r>
              <a:rPr lang="ru-RU" sz="1600" dirty="0">
                <a:latin typeface="Golos Text" panose="020B0503020202020204" pitchFamily="34" charset="0"/>
                <a:ea typeface="Golos Text" panose="020B0503020202020204" pitchFamily="34" charset="0"/>
              </a:rPr>
              <a:t>базовой версией и платной премиум-версией</a:t>
            </a:r>
            <a:r>
              <a:rPr lang="en-US" sz="1600" dirty="0">
                <a:latin typeface="Golos Text" panose="020B0503020202020204" pitchFamily="34" charset="0"/>
                <a:ea typeface="Golos Text" panose="020B0503020202020204" pitchFamily="34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ru-RU" sz="1600" dirty="0">
                <a:latin typeface="Golos Text" panose="020B0503020202020204" pitchFamily="34" charset="0"/>
                <a:ea typeface="Golos Text" panose="020B0503020202020204" pitchFamily="34" charset="0"/>
              </a:rPr>
              <a:t>Присутствует бесплатный функционал и «премиальный». Бесплатный – зачастую с очень низкой себестоимостью.</a:t>
            </a:r>
          </a:p>
          <a:p>
            <a:pPr>
              <a:lnSpc>
                <a:spcPct val="150000"/>
              </a:lnSpc>
            </a:pPr>
            <a:r>
              <a:rPr lang="ru-RU" sz="1600" dirty="0">
                <a:latin typeface="Golos Text" panose="020B0503020202020204" pitchFamily="34" charset="0"/>
                <a:ea typeface="Golos Text" panose="020B0503020202020204" pitchFamily="34" charset="0"/>
              </a:rPr>
              <a:t>Ключевой показатель – конверсия бесплатных к платным</a:t>
            </a:r>
          </a:p>
          <a:p>
            <a:pPr>
              <a:lnSpc>
                <a:spcPct val="150000"/>
              </a:lnSpc>
            </a:pPr>
            <a:r>
              <a:rPr lang="ru-RU" sz="1600" dirty="0">
                <a:latin typeface="Golos Text" panose="020B0503020202020204" pitchFamily="34" charset="0"/>
                <a:ea typeface="Golos Text" panose="020B0503020202020204" pitchFamily="34" charset="0"/>
              </a:rPr>
              <a:t>Примеры: гугл диск, </a:t>
            </a:r>
            <a:r>
              <a:rPr lang="en-US" sz="1600" dirty="0">
                <a:latin typeface="Golos Text" panose="020B0503020202020204" pitchFamily="34" charset="0"/>
                <a:ea typeface="Golos Text" panose="020B0503020202020204" pitchFamily="34" charset="0"/>
              </a:rPr>
              <a:t>HH</a:t>
            </a:r>
            <a:r>
              <a:rPr lang="ru-RU" sz="1600" dirty="0">
                <a:latin typeface="Golos Text" panose="020B0503020202020204" pitchFamily="34" charset="0"/>
                <a:ea typeface="Golos Text" panose="020B0503020202020204" pitchFamily="34" charset="0"/>
              </a:rPr>
              <a:t>, </a:t>
            </a:r>
            <a:r>
              <a:rPr lang="en-US" sz="1600" dirty="0">
                <a:latin typeface="Golos Text" panose="020B0503020202020204" pitchFamily="34" charset="0"/>
                <a:ea typeface="Golos Text" panose="020B0503020202020204" pitchFamily="34" charset="0"/>
              </a:rPr>
              <a:t>Spotify</a:t>
            </a:r>
            <a:endParaRPr lang="ru-RU" sz="1600" dirty="0">
              <a:latin typeface="Golos Text" panose="020B0503020202020204" pitchFamily="34" charset="0"/>
              <a:ea typeface="Golos Text" panose="020B0503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1600" dirty="0"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2373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5F4C7-B8A7-0D3A-F20D-3653F2267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2C0AD5-94BB-F023-965B-0987BE13D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400" dirty="0"/>
              <a:t>Инновационные бизнес-модели ИТ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67BB1CE-FC54-FE07-689D-FD92D4240C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1097280"/>
            <a:ext cx="8221980" cy="335110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ru-RU" sz="1600" dirty="0">
                <a:latin typeface="Golos Text" panose="020B0503020202020204" pitchFamily="34" charset="0"/>
                <a:ea typeface="Golos Text" panose="020B0503020202020204" pitchFamily="34" charset="0"/>
              </a:rPr>
              <a:t>«Двусторонний рынок». Обеспечение косвенного сетевого эффекта</a:t>
            </a:r>
          </a:p>
          <a:p>
            <a:pPr>
              <a:lnSpc>
                <a:spcPct val="150000"/>
              </a:lnSpc>
            </a:pPr>
            <a:r>
              <a:rPr lang="ru-RU" sz="1600" dirty="0">
                <a:latin typeface="Golos Text" panose="020B0503020202020204" pitchFamily="34" charset="0"/>
                <a:ea typeface="Golos Text" panose="020B0503020202020204" pitchFamily="34" charset="0"/>
              </a:rPr>
              <a:t>Компания, применяющая бизнес-модель «Двусторонний рынок», облегчает взаимовыгодное взаимодействие двух дополняющих друг друга групп, выполняя роль посредника или некой платформы</a:t>
            </a:r>
          </a:p>
          <a:p>
            <a:pPr>
              <a:lnSpc>
                <a:spcPct val="150000"/>
              </a:lnSpc>
            </a:pPr>
            <a:r>
              <a:rPr lang="ru-RU" sz="1600" dirty="0">
                <a:latin typeface="Golos Text" panose="020B0503020202020204" pitchFamily="34" charset="0"/>
                <a:ea typeface="Golos Text" panose="020B0503020202020204" pitchFamily="34" charset="0"/>
              </a:rPr>
              <a:t>Ключевой показатель – косвенный эффект. Сложность – привлечь клиентов</a:t>
            </a:r>
          </a:p>
          <a:p>
            <a:pPr>
              <a:lnSpc>
                <a:spcPct val="150000"/>
              </a:lnSpc>
            </a:pPr>
            <a:r>
              <a:rPr lang="ru-RU" sz="1600" dirty="0">
                <a:latin typeface="Golos Text" panose="020B0503020202020204" pitchFamily="34" charset="0"/>
                <a:ea typeface="Golos Text" panose="020B0503020202020204" pitchFamily="34" charset="0"/>
              </a:rPr>
              <a:t>Примеры: </a:t>
            </a:r>
            <a:r>
              <a:rPr lang="ru-RU" sz="1600" dirty="0" err="1">
                <a:latin typeface="Golos Text" panose="020B0503020202020204" pitchFamily="34" charset="0"/>
                <a:ea typeface="Golos Text" panose="020B0503020202020204" pitchFamily="34" charset="0"/>
              </a:rPr>
              <a:t>яндекс</a:t>
            </a:r>
            <a:r>
              <a:rPr lang="ru-RU" sz="1600" dirty="0">
                <a:latin typeface="Golos Text" panose="020B0503020202020204" pitchFamily="34" charset="0"/>
                <a:ea typeface="Golos Text" panose="020B0503020202020204" pitchFamily="34" charset="0"/>
              </a:rPr>
              <a:t> маркет, </a:t>
            </a:r>
            <a:r>
              <a:rPr lang="ru-RU" sz="1600" dirty="0" err="1">
                <a:latin typeface="Golos Text" panose="020B0503020202020204" pitchFamily="34" charset="0"/>
                <a:ea typeface="Golos Text" panose="020B0503020202020204" pitchFamily="34" charset="0"/>
              </a:rPr>
              <a:t>таргет</a:t>
            </a:r>
            <a:r>
              <a:rPr lang="ru-RU" sz="1600" dirty="0">
                <a:latin typeface="Golos Text" panose="020B0503020202020204" pitchFamily="34" charset="0"/>
                <a:ea typeface="Golos Text" panose="020B0503020202020204" pitchFamily="34" charset="0"/>
              </a:rPr>
              <a:t> в запрещенной платформе</a:t>
            </a:r>
          </a:p>
          <a:p>
            <a:pPr>
              <a:lnSpc>
                <a:spcPct val="150000"/>
              </a:lnSpc>
            </a:pPr>
            <a:endParaRPr lang="en-US" sz="1600" dirty="0"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1646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09036-C450-0F64-8A8F-DC8F045A1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22B5F9-293D-2002-EFC5-0DC0875A9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400" dirty="0"/>
              <a:t>Инновационные бизнес-модели ИТ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D628890-C412-7621-B287-686F578BF46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1097280"/>
            <a:ext cx="8221980" cy="335110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ru-RU" sz="1600" dirty="0">
                <a:latin typeface="Golos Text" panose="020B0503020202020204" pitchFamily="34" charset="0"/>
                <a:ea typeface="Golos Text" panose="020B0503020202020204" pitchFamily="34" charset="0"/>
              </a:rPr>
              <a:t>Управление данными о клиентах</a:t>
            </a:r>
            <a:endParaRPr lang="en-US" sz="1600" dirty="0">
              <a:latin typeface="Golos Text" panose="020B0503020202020204" pitchFamily="34" charset="0"/>
              <a:ea typeface="Golos Text" panose="020B0503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ru-RU" sz="1600" dirty="0">
                <a:latin typeface="Golos Text" panose="020B0503020202020204" pitchFamily="34" charset="0"/>
                <a:ea typeface="Golos Text" panose="020B0503020202020204" pitchFamily="34" charset="0"/>
              </a:rPr>
              <a:t>Эксклюзивные знания для повышения рентабельности + продажа </a:t>
            </a:r>
            <a:r>
              <a:rPr lang="ru-RU" sz="1600" dirty="0" err="1">
                <a:latin typeface="Golos Text" panose="020B0503020202020204" pitchFamily="34" charset="0"/>
                <a:ea typeface="Golos Text" panose="020B0503020202020204" pitchFamily="34" charset="0"/>
              </a:rPr>
              <a:t>стороннним</a:t>
            </a:r>
            <a:r>
              <a:rPr lang="ru-RU" sz="1600" dirty="0">
                <a:latin typeface="Golos Text" panose="020B0503020202020204" pitchFamily="34" charset="0"/>
                <a:ea typeface="Golos Text" panose="020B0503020202020204" pitchFamily="34" charset="0"/>
              </a:rPr>
              <a:t> организациям</a:t>
            </a:r>
          </a:p>
          <a:p>
            <a:pPr>
              <a:lnSpc>
                <a:spcPct val="150000"/>
              </a:lnSpc>
            </a:pPr>
            <a:r>
              <a:rPr lang="ru-RU" sz="1600" dirty="0">
                <a:latin typeface="Golos Text" panose="020B0503020202020204" pitchFamily="34" charset="0"/>
                <a:ea typeface="Golos Text" panose="020B0503020202020204" pitchFamily="34" charset="0"/>
              </a:rPr>
              <a:t>Примеры: </a:t>
            </a:r>
            <a:r>
              <a:rPr lang="en-US" sz="1600" dirty="0">
                <a:latin typeface="Golos Text" panose="020B0503020202020204" pitchFamily="34" charset="0"/>
                <a:ea typeface="Golos Text" panose="020B0503020202020204" pitchFamily="34" charset="0"/>
              </a:rPr>
              <a:t>Ozon, </a:t>
            </a:r>
            <a:r>
              <a:rPr lang="ru-RU" sz="1600" dirty="0">
                <a:latin typeface="Golos Text" panose="020B0503020202020204" pitchFamily="34" charset="0"/>
                <a:ea typeface="Golos Text" panose="020B0503020202020204" pitchFamily="34" charset="0"/>
              </a:rPr>
              <a:t>ВК</a:t>
            </a:r>
          </a:p>
          <a:p>
            <a:pPr>
              <a:lnSpc>
                <a:spcPct val="150000"/>
              </a:lnSpc>
            </a:pPr>
            <a:endParaRPr lang="en-US" sz="1600" dirty="0"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1940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2AD7A-F211-9156-353F-D8BD4B31A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4FCC7E-D01F-C2DE-B3C9-EE2EAA475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400" dirty="0"/>
              <a:t>Инновационные бизнес-модели ИТ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1445340-550B-5EFA-7133-22B296D81A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1097280"/>
            <a:ext cx="8221980" cy="335110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ru-RU" sz="1600" dirty="0">
                <a:latin typeface="Golos Text" panose="020B0503020202020204" pitchFamily="34" charset="0"/>
                <a:ea typeface="Golos Text" panose="020B0503020202020204" pitchFamily="34" charset="0"/>
              </a:rPr>
              <a:t>«Бритва и лезвие»</a:t>
            </a:r>
          </a:p>
          <a:p>
            <a:pPr>
              <a:lnSpc>
                <a:spcPct val="150000"/>
              </a:lnSpc>
            </a:pPr>
            <a:r>
              <a:rPr lang="ru-RU" sz="1600" dirty="0">
                <a:latin typeface="Golos Text" panose="020B0503020202020204" pitchFamily="34" charset="0"/>
                <a:ea typeface="Golos Text" panose="020B0503020202020204" pitchFamily="34" charset="0"/>
              </a:rPr>
              <a:t>Компания продает что-то недорогое, чтобы получить большую прибыль с сопутствующих товаров</a:t>
            </a:r>
          </a:p>
          <a:p>
            <a:pPr>
              <a:lnSpc>
                <a:spcPct val="150000"/>
              </a:lnSpc>
            </a:pPr>
            <a:r>
              <a:rPr lang="ru-RU" sz="1600" dirty="0">
                <a:latin typeface="Golos Text" panose="020B0503020202020204" pitchFamily="34" charset="0"/>
                <a:ea typeface="Golos Text" panose="020B0503020202020204" pitchFamily="34" charset="0"/>
              </a:rPr>
              <a:t>Примеры: </a:t>
            </a:r>
            <a:r>
              <a:rPr lang="en-US" sz="1600" dirty="0">
                <a:latin typeface="Golos Text" panose="020B0503020202020204" pitchFamily="34" charset="0"/>
                <a:ea typeface="Golos Text" panose="020B0503020202020204" pitchFamily="34" charset="0"/>
              </a:rPr>
              <a:t>Gillet</a:t>
            </a:r>
            <a:r>
              <a:rPr lang="ru-RU" sz="1600" dirty="0">
                <a:latin typeface="Golos Text" panose="020B0503020202020204" pitchFamily="34" charset="0"/>
                <a:ea typeface="Golos Text" panose="020B0503020202020204" pitchFamily="34" charset="0"/>
              </a:rPr>
              <a:t>, </a:t>
            </a:r>
            <a:r>
              <a:rPr lang="en-US" sz="1600" dirty="0">
                <a:latin typeface="Golos Text" panose="020B0503020202020204" pitchFamily="34" charset="0"/>
                <a:ea typeface="Golos Text" panose="020B0503020202020204" pitchFamily="34" charset="0"/>
              </a:rPr>
              <a:t>Nintendo, Amazon Kindle</a:t>
            </a:r>
            <a:endParaRPr lang="ru-RU" sz="1600" dirty="0">
              <a:latin typeface="Golos Text" panose="020B0503020202020204" pitchFamily="34" charset="0"/>
              <a:ea typeface="Golos Text" panose="020B0503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1600" dirty="0"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5818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E4EB3-FCE2-839A-9974-7AE68369A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CE6EF0-0BD3-FCCC-F70F-3026EC67A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400" dirty="0"/>
              <a:t>Инновационные бизнес-модели ИТ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BF813B5-32EF-32E1-1B15-38F4A36F73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1097280"/>
            <a:ext cx="8221980" cy="335110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ru-RU" sz="1600" dirty="0">
                <a:latin typeface="Golos Text" panose="020B0503020202020204" pitchFamily="34" charset="0"/>
                <a:ea typeface="Golos Text" panose="020B0503020202020204" pitchFamily="34" charset="0"/>
              </a:rPr>
              <a:t>«Объект с самообслуживанием»</a:t>
            </a:r>
          </a:p>
          <a:p>
            <a:pPr>
              <a:lnSpc>
                <a:spcPct val="150000"/>
              </a:lnSpc>
            </a:pPr>
            <a:r>
              <a:rPr lang="ru-RU" sz="1600" dirty="0">
                <a:latin typeface="Golos Text" panose="020B0503020202020204" pitchFamily="34" charset="0"/>
                <a:ea typeface="Golos Text" panose="020B0503020202020204" pitchFamily="34" charset="0"/>
              </a:rPr>
              <a:t>Технические аппараты способны сами себя обслуживать</a:t>
            </a:r>
          </a:p>
          <a:p>
            <a:pPr>
              <a:lnSpc>
                <a:spcPct val="150000"/>
              </a:lnSpc>
            </a:pPr>
            <a:r>
              <a:rPr lang="ru-RU" sz="1600" dirty="0">
                <a:latin typeface="Golos Text" panose="020B0503020202020204" pitchFamily="34" charset="0"/>
                <a:ea typeface="Golos Text" panose="020B0503020202020204" pitchFamily="34" charset="0"/>
              </a:rPr>
              <a:t>Примеры: </a:t>
            </a:r>
            <a:r>
              <a:rPr lang="en-US" sz="1600" dirty="0" err="1">
                <a:latin typeface="Golos Text" panose="020B0503020202020204" pitchFamily="34" charset="0"/>
                <a:ea typeface="Golos Text" panose="020B0503020202020204" pitchFamily="34" charset="0"/>
              </a:rPr>
              <a:t>Felfel</a:t>
            </a:r>
            <a:r>
              <a:rPr lang="en-US" sz="1600" dirty="0">
                <a:latin typeface="Golos Text" panose="020B0503020202020204" pitchFamily="34" charset="0"/>
                <a:ea typeface="Golos Text" panose="020B0503020202020204" pitchFamily="34" charset="0"/>
              </a:rPr>
              <a:t> –</a:t>
            </a:r>
            <a:r>
              <a:rPr lang="ru-RU" sz="1600" dirty="0">
                <a:latin typeface="Golos Text" panose="020B0503020202020204" pitchFamily="34" charset="0"/>
                <a:ea typeface="Golos Text" panose="020B0503020202020204" pitchFamily="34" charset="0"/>
              </a:rPr>
              <a:t> холодильник, </a:t>
            </a:r>
            <a:r>
              <a:rPr lang="en-US" sz="1600" dirty="0">
                <a:latin typeface="Golos Text" panose="020B0503020202020204" pitchFamily="34" charset="0"/>
                <a:ea typeface="Golos Text" panose="020B0503020202020204" pitchFamily="34" charset="0"/>
              </a:rPr>
              <a:t>HP -</a:t>
            </a:r>
            <a:r>
              <a:rPr lang="ru-RU" sz="1600" dirty="0">
                <a:latin typeface="Golos Text" panose="020B0503020202020204" pitchFamily="34" charset="0"/>
                <a:ea typeface="Golos Text" panose="020B0503020202020204" pitchFamily="34" charset="0"/>
              </a:rPr>
              <a:t> принтеры</a:t>
            </a:r>
          </a:p>
          <a:p>
            <a:pPr>
              <a:lnSpc>
                <a:spcPct val="150000"/>
              </a:lnSpc>
            </a:pPr>
            <a:endParaRPr lang="en-US" sz="1600" dirty="0"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588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DAB4E0-BBC5-2295-834A-EFC975846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47" name="Rectangle 10246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42" name="Picture 2" descr="Россия 24» выдала человека в костюме робота за «самого современного робота»  — Новости — Teletype">
            <a:extLst>
              <a:ext uri="{FF2B5EF4-FFF2-40B4-BE49-F238E27FC236}">
                <a16:creationId xmlns:a16="http://schemas.microsoft.com/office/drawing/2014/main" id="{4D31CE5B-662C-3728-3B22-8FDBED2C4B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26"/>
          <a:stretch/>
        </p:blipFill>
        <p:spPr bwMode="auto">
          <a:xfrm>
            <a:off x="20" y="10"/>
            <a:ext cx="7252212" cy="5143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49" name="Rectangle 10248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843764" y="0"/>
            <a:ext cx="5300233" cy="51435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3C8E61-E7D3-D300-71EF-743D6BBE3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1550" y="557585"/>
            <a:ext cx="3192449" cy="2200855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3600" dirty="0" err="1"/>
              <a:t>Робототехника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4740132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9A10B-B59D-762C-C919-6FA7E361C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37D52C-437F-6441-C1A6-5F35720AA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400" dirty="0"/>
              <a:t>Объем рынка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89A5345-89B1-68E2-E748-7F79F556D6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496"/>
            <a:ext cx="9144000" cy="4998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7082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2D83F-302A-1A1D-6EF3-4C014B582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9AA83F-9738-877A-1EE4-BE0C53888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400" dirty="0"/>
              <a:t>Объем рынка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4F8CEBCA-95A9-0846-98D6-FB0ACC86DF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95275"/>
            <a:ext cx="9144000" cy="4552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11552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9BBC9-4C19-FC29-0A24-DAEC26A51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C30913-B45E-5F2B-E1AA-7A6542568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400" dirty="0"/>
              <a:t>Объем рынка</a:t>
            </a:r>
          </a:p>
        </p:txBody>
      </p:sp>
      <p:pic>
        <p:nvPicPr>
          <p:cNvPr id="20482" name="Picture 2">
            <a:extLst>
              <a:ext uri="{FF2B5EF4-FFF2-40B4-BE49-F238E27FC236}">
                <a16:creationId xmlns:a16="http://schemas.microsoft.com/office/drawing/2014/main" id="{D6FD2B95-F96F-0462-2783-75E3ABD0A4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4000"/>
            <a:ext cx="9144000" cy="4633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59483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1EA5A-9777-0597-A7A1-819B1F0E6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8AC974-6716-5DDB-4062-BAAE13CFF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400" dirty="0"/>
              <a:t>Объем рынка</a:t>
            </a:r>
          </a:p>
        </p:txBody>
      </p:sp>
      <p:pic>
        <p:nvPicPr>
          <p:cNvPr id="21506" name="Picture 2">
            <a:extLst>
              <a:ext uri="{FF2B5EF4-FFF2-40B4-BE49-F238E27FC236}">
                <a16:creationId xmlns:a16="http://schemas.microsoft.com/office/drawing/2014/main" id="{96720B73-6728-E43E-C46F-32896CF502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6681"/>
            <a:ext cx="9144000" cy="4910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5600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77BBE-F40C-96C2-2050-47E1E88DA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F1B83C-CC03-8C9D-D142-B56C0F4E9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400" dirty="0"/>
              <a:t>Объем рынка</a:t>
            </a:r>
          </a:p>
        </p:txBody>
      </p:sp>
      <p:pic>
        <p:nvPicPr>
          <p:cNvPr id="22530" name="Picture 2">
            <a:extLst>
              <a:ext uri="{FF2B5EF4-FFF2-40B4-BE49-F238E27FC236}">
                <a16:creationId xmlns:a16="http://schemas.microsoft.com/office/drawing/2014/main" id="{BFB54F30-DA4C-AFC5-4D5F-52F67022DA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0975"/>
            <a:ext cx="9144000" cy="4779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91136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CC078-5E67-8411-4FF6-69FD9155E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751251-E423-1369-56D1-93CA05809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400" dirty="0"/>
              <a:t>Перспективные направления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D885DE3-D5A9-6CAB-45A0-98FC7647EC1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1097280"/>
            <a:ext cx="8221980" cy="3351106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latin typeface="Golos Text" panose="020B0503020202020204" pitchFamily="34" charset="0"/>
                <a:ea typeface="Golos Text" panose="020B0503020202020204" pitchFamily="34" charset="0"/>
              </a:rPr>
              <a:t>ИИ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 err="1">
                <a:latin typeface="Golos Text" panose="020B0503020202020204" pitchFamily="34" charset="0"/>
                <a:ea typeface="Golos Text" panose="020B0503020202020204" pitchFamily="34" charset="0"/>
              </a:rPr>
              <a:t>Коботы</a:t>
            </a:r>
            <a:endParaRPr lang="ru-RU" sz="1600" dirty="0">
              <a:latin typeface="Golos Text" panose="020B0503020202020204" pitchFamily="34" charset="0"/>
              <a:ea typeface="Golos Text" panose="020B0503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latin typeface="Golos Text" panose="020B0503020202020204" pitchFamily="34" charset="0"/>
                <a:ea typeface="Golos Text" panose="020B0503020202020204" pitchFamily="34" charset="0"/>
              </a:rPr>
              <a:t>Цифровые двойники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latin typeface="Golos Text" panose="020B0503020202020204" pitchFamily="34" charset="0"/>
                <a:ea typeface="Golos Text" panose="020B0503020202020204" pitchFamily="34" charset="0"/>
              </a:rPr>
              <a:t>Мобильные манипуляторы</a:t>
            </a:r>
          </a:p>
          <a:p>
            <a:pPr>
              <a:lnSpc>
                <a:spcPct val="150000"/>
              </a:lnSpc>
            </a:pPr>
            <a:endParaRPr lang="ru-RU" sz="1600" dirty="0"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09671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A8452-52B2-E64F-6D4B-010E04A9E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F5C1CE-F5F9-1CD4-DF2F-4C1A10633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400" dirty="0"/>
              <a:t>Барьеры</a:t>
            </a:r>
          </a:p>
        </p:txBody>
      </p:sp>
      <p:pic>
        <p:nvPicPr>
          <p:cNvPr id="23554" name="Picture 2" descr="барьеры иллюстрация штока. иллюстрации насчитывающей барьер ...">
            <a:extLst>
              <a:ext uri="{FF2B5EF4-FFF2-40B4-BE49-F238E27FC236}">
                <a16:creationId xmlns:a16="http://schemas.microsoft.com/office/drawing/2014/main" id="{AF34CC9D-58F0-20F3-9AED-0A2DA37BD9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14"/>
          <a:stretch/>
        </p:blipFill>
        <p:spPr bwMode="auto">
          <a:xfrm>
            <a:off x="2136775" y="0"/>
            <a:ext cx="4868863" cy="4818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560227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1">
  <a:themeElements>
    <a:clrScheme name="Другая 1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Тема1" id="{4DAE9245-FD5C-48A3-9F61-0C8FFBFAE07A}" vid="{20E0B42B-372D-46F0-B56F-89DFAD950D3B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46860</TotalTime>
  <Words>421</Words>
  <Application>Microsoft Office PowerPoint</Application>
  <PresentationFormat>Экран (16:9)</PresentationFormat>
  <Paragraphs>75</Paragraphs>
  <Slides>25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25</vt:i4>
      </vt:variant>
    </vt:vector>
  </HeadingPairs>
  <TitlesOfParts>
    <vt:vector size="35" baseType="lpstr">
      <vt:lpstr>ALS Gorizont Bold Expanded</vt:lpstr>
      <vt:lpstr>ALS Gorizont Expanded</vt:lpstr>
      <vt:lpstr>Aptos</vt:lpstr>
      <vt:lpstr>Aptos Display</vt:lpstr>
      <vt:lpstr>Arial</vt:lpstr>
      <vt:lpstr>Calibri</vt:lpstr>
      <vt:lpstr>Golos Text</vt:lpstr>
      <vt:lpstr>Golos Text DemiBold</vt:lpstr>
      <vt:lpstr>Тема1</vt:lpstr>
      <vt:lpstr>Тема Office</vt:lpstr>
      <vt:lpstr>Бизнес модели основных секторов экономики</vt:lpstr>
      <vt:lpstr>Информационно-коммуникационные технологии</vt:lpstr>
      <vt:lpstr>Объем рынка, Россия</vt:lpstr>
      <vt:lpstr>Численность сотрудников, Россия</vt:lpstr>
      <vt:lpstr>Численность сотрудников, Россия</vt:lpstr>
      <vt:lpstr>Показатели 2024, Россия</vt:lpstr>
      <vt:lpstr>Объем рынка, мир</vt:lpstr>
      <vt:lpstr>Динамика расходов на ИКТ</vt:lpstr>
      <vt:lpstr>Перспективы </vt:lpstr>
      <vt:lpstr>Барьеры</vt:lpstr>
      <vt:lpstr>Бизнес-модели ИТ</vt:lpstr>
      <vt:lpstr>Инновационные бизнес-модели ИТ</vt:lpstr>
      <vt:lpstr>Инновационные бизнес-модели ИТ</vt:lpstr>
      <vt:lpstr>Инновационные бизнес-модели ИТ</vt:lpstr>
      <vt:lpstr>Инновационные бизнес-модели ИТ</vt:lpstr>
      <vt:lpstr>Инновационные бизнес-модели ИТ</vt:lpstr>
      <vt:lpstr>Инновационные бизнес-модели ИТ</vt:lpstr>
      <vt:lpstr>Робототехника</vt:lpstr>
      <vt:lpstr>Объем рынка</vt:lpstr>
      <vt:lpstr>Объем рынка</vt:lpstr>
      <vt:lpstr>Объем рынка</vt:lpstr>
      <vt:lpstr>Объем рынка</vt:lpstr>
      <vt:lpstr>Объем рынка</vt:lpstr>
      <vt:lpstr>Перспективные направления</vt:lpstr>
      <vt:lpstr>Барьеры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</dc:creator>
  <cp:lastModifiedBy>Волхонцев Андрей Алексеевич</cp:lastModifiedBy>
  <cp:revision>146</cp:revision>
  <dcterms:created xsi:type="dcterms:W3CDTF">2014-06-27T12:30:22Z</dcterms:created>
  <dcterms:modified xsi:type="dcterms:W3CDTF">2024-12-14T12:20:08Z</dcterms:modified>
</cp:coreProperties>
</file>